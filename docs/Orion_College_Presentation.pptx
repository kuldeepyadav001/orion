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2011680"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103120"/>
          </a:xfrm>
          <a:prstGeom prst="rect">
            <a:avLst/>
          </a:prstGeom>
          <a:noFill/>
        </p:spPr>
        <p:txBody>
          <a:bodyPr wrap="none">
            <a:spAutoFit/>
          </a:bodyPr>
          <a:lstStyle/>
          <a:p>
            <a:pPr>
              <a:defRPr sz="4000" b="1">
                <a:solidFill>
                  <a:srgbClr val="F8FAFC"/>
                </a:solidFill>
              </a:defRPr>
            </a:pPr>
            <a:r>
              <a:t>ORION TECHNOLOGIES</a:t>
            </a:r>
          </a:p>
          <a:p>
            <a:pPr>
              <a:spcBef>
                <a:spcPts val="600"/>
              </a:spcBef>
              <a:defRPr sz="2600" b="1">
                <a:solidFill>
                  <a:srgbClr val="00E5FF"/>
                </a:solidFill>
              </a:defRPr>
            </a:pPr>
            <a:r>
              <a:t>The Sovereign Edge AI Operating Platform</a:t>
            </a:r>
          </a:p>
          <a:p>
            <a:pPr>
              <a:spcBef>
                <a:spcPts val="800"/>
              </a:spcBef>
              <a:defRPr sz="1400">
                <a:solidFill>
                  <a:srgbClr val="A0AEC0"/>
                </a:solidFill>
              </a:defRPr>
            </a:pPr>
            <a:r>
              <a:t>Zero-Egress Multi-Agent Intelligence for 8 GB Commodity Hardware | Fully Deployed M1–M10 Production Architecture</a:t>
            </a:r>
          </a:p>
        </p:txBody>
      </p:sp>
      <p:sp>
        <p:nvSpPr>
          <p:cNvPr id="5" name="Rounded Rectangle 4"/>
          <p:cNvSpPr/>
          <p:nvPr/>
        </p:nvSpPr>
        <p:spPr>
          <a:xfrm>
            <a:off x="731520" y="3566160"/>
            <a:ext cx="3383280" cy="210312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794760"/>
            <a:ext cx="2834640" cy="1645920"/>
          </a:xfrm>
          <a:prstGeom prst="rect">
            <a:avLst/>
          </a:prstGeom>
          <a:noFill/>
        </p:spPr>
        <p:txBody>
          <a:bodyPr wrap="square" lIns="0" tIns="0" rIns="0" bIns="0">
            <a:spAutoFit/>
          </a:bodyPr>
          <a:lstStyle/>
          <a:p>
            <a:pPr>
              <a:defRPr sz="1200" b="1">
                <a:solidFill>
                  <a:srgbClr val="34D399"/>
                </a:solidFill>
              </a:defRPr>
            </a:pPr>
            <a:r>
              <a:t>ZERO DATA EGRESS</a:t>
            </a:r>
          </a:p>
          <a:p>
            <a:pPr>
              <a:spcBef>
                <a:spcPts val="400"/>
              </a:spcBef>
              <a:spcAft>
                <a:spcPts val="400"/>
              </a:spcAft>
              <a:defRPr sz="2800" b="1">
                <a:solidFill>
                  <a:srgbClr val="F8FAFC"/>
                </a:solidFill>
              </a:defRPr>
            </a:pPr>
            <a:r>
              <a:t>100% Air-Gapped</a:t>
            </a:r>
          </a:p>
          <a:p>
            <a:pPr>
              <a:defRPr sz="1150">
                <a:solidFill>
                  <a:srgbClr val="A0AEC0"/>
                </a:solidFill>
              </a:defRPr>
            </a:pPr>
            <a:r>
              <a:t>0 packets leave the workstation. Complete IP &amp; compliance sovereignty.</a:t>
            </a:r>
          </a:p>
        </p:txBody>
      </p:sp>
      <p:sp>
        <p:nvSpPr>
          <p:cNvPr id="7" name="Rounded Rectangle 6"/>
          <p:cNvSpPr/>
          <p:nvPr/>
        </p:nvSpPr>
        <p:spPr>
          <a:xfrm>
            <a:off x="4389120" y="3566160"/>
            <a:ext cx="3383280" cy="210312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3794760"/>
            <a:ext cx="2834640" cy="1645920"/>
          </a:xfrm>
          <a:prstGeom prst="rect">
            <a:avLst/>
          </a:prstGeom>
          <a:noFill/>
        </p:spPr>
        <p:txBody>
          <a:bodyPr wrap="square" lIns="0" tIns="0" rIns="0" bIns="0">
            <a:spAutoFit/>
          </a:bodyPr>
          <a:lstStyle/>
          <a:p>
            <a:pPr>
              <a:defRPr sz="1200" b="1">
                <a:solidFill>
                  <a:srgbClr val="00E5FF"/>
                </a:solidFill>
              </a:defRPr>
            </a:pPr>
            <a:r>
              <a:t>MEMORY BOUNDED</a:t>
            </a:r>
          </a:p>
          <a:p>
            <a:pPr>
              <a:spcBef>
                <a:spcPts val="400"/>
              </a:spcBef>
              <a:spcAft>
                <a:spcPts val="400"/>
              </a:spcAft>
              <a:defRPr sz="2800" b="1">
                <a:solidFill>
                  <a:srgbClr val="F8FAFC"/>
                </a:solidFill>
              </a:defRPr>
            </a:pPr>
            <a:r>
              <a:t>5.7 GB Real RAM</a:t>
            </a:r>
          </a:p>
          <a:p>
            <a:pPr>
              <a:defRPr sz="1150">
                <a:solidFill>
                  <a:srgbClr val="A0AEC0"/>
                </a:solidFill>
              </a:defRPr>
            </a:pPr>
            <a:r>
              <a:t>Proprietary sequential handoff eliminates OS swap thrashing forever.</a:t>
            </a:r>
          </a:p>
        </p:txBody>
      </p:sp>
      <p:sp>
        <p:nvSpPr>
          <p:cNvPr id="9" name="Rounded Rectangle 8"/>
          <p:cNvSpPr/>
          <p:nvPr/>
        </p:nvSpPr>
        <p:spPr>
          <a:xfrm>
            <a:off x="8046720" y="3566160"/>
            <a:ext cx="3383280" cy="210312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3794760"/>
            <a:ext cx="2834640" cy="1645920"/>
          </a:xfrm>
          <a:prstGeom prst="rect">
            <a:avLst/>
          </a:prstGeom>
          <a:noFill/>
        </p:spPr>
        <p:txBody>
          <a:bodyPr wrap="square" lIns="0" tIns="0" rIns="0" bIns="0">
            <a:spAutoFit/>
          </a:bodyPr>
          <a:lstStyle/>
          <a:p>
            <a:pPr>
              <a:defRPr sz="1200" b="1">
                <a:solidFill>
                  <a:srgbClr val="8B5CF6"/>
                </a:solidFill>
              </a:defRPr>
            </a:pPr>
            <a:r>
              <a:t>PRODUCTION DEPLOYED</a:t>
            </a:r>
          </a:p>
          <a:p>
            <a:pPr>
              <a:spcBef>
                <a:spcPts val="400"/>
              </a:spcBef>
              <a:spcAft>
                <a:spcPts val="400"/>
              </a:spcAft>
              <a:defRPr sz="2800" b="1">
                <a:solidFill>
                  <a:srgbClr val="F8FAFC"/>
                </a:solidFill>
              </a:defRPr>
            </a:pPr>
            <a:r>
              <a:t>M1–M10 Active</a:t>
            </a:r>
          </a:p>
          <a:p>
            <a:pPr>
              <a:defRPr sz="1150">
                <a:solidFill>
                  <a:srgbClr val="A0AEC0"/>
                </a:solidFill>
              </a:defRPr>
            </a:pPr>
            <a:r>
              <a:t>Integrated multimodal voice, email, browser, and OS desktop automation.</a:t>
            </a:r>
          </a:p>
        </p:txBody>
      </p:sp>
      <p:sp>
        <p:nvSpPr>
          <p:cNvPr id="11" name="TextBox 10"/>
          <p:cNvSpPr txBox="1"/>
          <p:nvPr/>
        </p:nvSpPr>
        <p:spPr>
          <a:xfrm>
            <a:off x="731520" y="6035040"/>
            <a:ext cx="10698480" cy="365760"/>
          </a:xfrm>
          <a:prstGeom prst="rect">
            <a:avLst/>
          </a:prstGeom>
          <a:noFill/>
        </p:spPr>
        <p:txBody>
          <a:bodyPr wrap="none">
            <a:spAutoFit/>
          </a:bodyPr>
          <a:lstStyle/>
          <a:p>
            <a:pPr>
              <a:defRPr sz="1150">
                <a:solidFill>
                  <a:srgbClr val="A0AEC0"/>
                </a:solidFill>
              </a:defRPr>
            </a:pPr>
            <a:r>
              <a:t>Founder &amp; Chief Systems Architect: Kuldeep Yadav | Core Team: Orion Systems Architecture Group | github.com/kuldeepyadav001/Orion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EXECUTIVE PROBLEM STATEMENT &amp; INDUSTRY RESEARCH</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The $600B Sovereign AI Opportunity: Breaking the Enterprise Deadlock</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Enterprises are caught between cloud surveillance risks and devastating edge hardware crashes.</a:t>
            </a:r>
          </a:p>
        </p:txBody>
      </p:sp>
      <p:sp>
        <p:nvSpPr>
          <p:cNvPr id="6" name="Rounded Rectangle 5"/>
          <p:cNvSpPr/>
          <p:nvPr/>
        </p:nvSpPr>
        <p:spPr>
          <a:xfrm>
            <a:off x="731520" y="1737360"/>
            <a:ext cx="338328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2834640" cy="4206240"/>
          </a:xfrm>
          <a:prstGeom prst="rect">
            <a:avLst/>
          </a:prstGeom>
          <a:noFill/>
        </p:spPr>
        <p:txBody>
          <a:bodyPr wrap="square" lIns="0" tIns="0" rIns="0" bIns="0">
            <a:spAutoFit/>
          </a:bodyPr>
          <a:lstStyle/>
          <a:p>
            <a:pPr>
              <a:defRPr sz="1600" b="1">
                <a:solidFill>
                  <a:srgbClr val="F8FAFC"/>
                </a:solidFill>
              </a:defRPr>
            </a:pPr>
            <a:r>
              <a:t>1. The Cloud AI Trap</a:t>
            </a:r>
          </a:p>
          <a:p>
            <a:pPr>
              <a:spcAft>
                <a:spcPts val="600"/>
              </a:spcAft>
              <a:defRPr sz="1000" b="1">
                <a:solidFill>
                  <a:srgbClr val="00E5FF"/>
                </a:solidFill>
              </a:defRPr>
            </a:pPr>
            <a:r>
              <a:t>SURVEILLANCE &amp; IP LEAKS</a:t>
            </a:r>
          </a:p>
          <a:p>
            <a:pPr>
              <a:spcBef>
                <a:spcPts val="800"/>
              </a:spcBef>
              <a:defRPr b="1" sz="1200">
                <a:solidFill>
                  <a:srgbClr val="F87171"/>
                </a:solidFill>
              </a:defRPr>
            </a:pPr>
            <a:r>
              <a:t>• Total IP Surrender:</a:t>
            </a:r>
          </a:p>
          <a:p>
            <a:pPr>
              <a:defRPr sz="1100">
                <a:solidFill>
                  <a:srgbClr val="F8FAFC"/>
                </a:solidFill>
              </a:defRPr>
            </a:pPr>
            <a:r>
              <a:t>Cloud LLMs require transmitting proprietary source code, trade secrets, and clinical notes to external servers.</a:t>
            </a:r>
          </a:p>
          <a:p>
            <a:pPr>
              <a:spcBef>
                <a:spcPts val="800"/>
              </a:spcBef>
              <a:defRPr b="1" sz="1200">
                <a:solidFill>
                  <a:srgbClr val="F87171"/>
                </a:solidFill>
              </a:defRPr>
            </a:pPr>
            <a:r>
              <a:t>• Model Memorization:</a:t>
            </a:r>
          </a:p>
          <a:p>
            <a:pPr>
              <a:defRPr sz="1100">
                <a:solidFill>
                  <a:srgbClr val="F8FAFC"/>
                </a:solidFill>
              </a:defRPr>
            </a:pPr>
            <a:r>
              <a:t>Customer prompts enter training ingestion pipelines, exposing algorithms to inversion attacks.</a:t>
            </a:r>
          </a:p>
          <a:p>
            <a:pPr>
              <a:spcBef>
                <a:spcPts val="800"/>
              </a:spcBef>
              <a:defRPr b="1" sz="1200">
                <a:solidFill>
                  <a:srgbClr val="F87171"/>
                </a:solidFill>
              </a:defRPr>
            </a:pPr>
            <a:r>
              <a:t>• Multimillion Penalties:</a:t>
            </a:r>
          </a:p>
          <a:p>
            <a:pPr>
              <a:defRPr sz="1100">
                <a:solidFill>
                  <a:srgbClr val="F8FAFC"/>
                </a:solidFill>
              </a:defRPr>
            </a:pPr>
            <a:r>
              <a:t>GDPR Art. 83, HIPAA, and SEC Rule 17a-4 enforce severe statutory fines for third-party data transit.</a:t>
            </a:r>
          </a:p>
        </p:txBody>
      </p:sp>
      <p:sp>
        <p:nvSpPr>
          <p:cNvPr id="8" name="Rounded Rectangle 7"/>
          <p:cNvSpPr/>
          <p:nvPr/>
        </p:nvSpPr>
        <p:spPr>
          <a:xfrm>
            <a:off x="4389120" y="1737360"/>
            <a:ext cx="338328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65960"/>
            <a:ext cx="2834640" cy="4206240"/>
          </a:xfrm>
          <a:prstGeom prst="rect">
            <a:avLst/>
          </a:prstGeom>
          <a:noFill/>
        </p:spPr>
        <p:txBody>
          <a:bodyPr wrap="square" lIns="0" tIns="0" rIns="0" bIns="0">
            <a:spAutoFit/>
          </a:bodyPr>
          <a:lstStyle/>
          <a:p>
            <a:pPr>
              <a:defRPr sz="1600" b="1">
                <a:solidFill>
                  <a:srgbClr val="F8FAFC"/>
                </a:solidFill>
              </a:defRPr>
            </a:pPr>
            <a:r>
              <a:t>2. The Edge Hardware Trap</a:t>
            </a:r>
          </a:p>
          <a:p>
            <a:pPr>
              <a:spcAft>
                <a:spcPts val="600"/>
              </a:spcAft>
              <a:defRPr sz="1000" b="1">
                <a:solidFill>
                  <a:srgbClr val="00E5FF"/>
                </a:solidFill>
              </a:defRPr>
            </a:pPr>
            <a:r>
              <a:t>OOM CRASHES &amp; PAGING THRASH</a:t>
            </a:r>
          </a:p>
          <a:p>
            <a:pPr>
              <a:spcBef>
                <a:spcPts val="800"/>
              </a:spcBef>
              <a:defRPr b="1" sz="1200">
                <a:solidFill>
                  <a:srgbClr val="FB923C"/>
                </a:solidFill>
              </a:defRPr>
            </a:pPr>
            <a:r>
              <a:t>• 70%+ Enterprise Baseline:</a:t>
            </a:r>
          </a:p>
          <a:p>
            <a:pPr>
              <a:defRPr sz="1100">
                <a:solidFill>
                  <a:srgbClr val="F8FAFC"/>
                </a:solidFill>
              </a:defRPr>
            </a:pPr>
            <a:r>
              <a:t>Over 70% of enterprise laptops possess 8 GB physical RAM (~5.7 GB usable after iGPU reservation).</a:t>
            </a:r>
          </a:p>
          <a:p>
            <a:pPr>
              <a:spcBef>
                <a:spcPts val="800"/>
              </a:spcBef>
              <a:defRPr b="1" sz="1200">
                <a:solidFill>
                  <a:srgbClr val="FB923C"/>
                </a:solidFill>
              </a:defRPr>
            </a:pPr>
            <a:r>
              <a:t>• Fatal Memory Collision:</a:t>
            </a:r>
          </a:p>
          <a:p>
            <a:pPr>
              <a:defRPr sz="1100">
                <a:solidFill>
                  <a:srgbClr val="F8FAFC"/>
                </a:solidFill>
              </a:defRPr>
            </a:pPr>
            <a:r>
              <a:t>Existing tools (Ollama, LM Studio) attempt concurrent model loading (&gt;4.5 GB RSS), crashing the OS.</a:t>
            </a:r>
          </a:p>
          <a:p>
            <a:pPr>
              <a:spcBef>
                <a:spcPts val="800"/>
              </a:spcBef>
              <a:defRPr b="1" sz="1200">
                <a:solidFill>
                  <a:srgbClr val="FB923C"/>
                </a:solidFill>
              </a:defRPr>
            </a:pPr>
            <a:r>
              <a:t>• Zero Agent Sandboxing:</a:t>
            </a:r>
          </a:p>
          <a:p>
            <a:pPr>
              <a:defRPr sz="1100">
                <a:solidFill>
                  <a:srgbClr val="F8FAFC"/>
                </a:solidFill>
              </a:defRPr>
            </a:pPr>
            <a:r>
              <a:t>Tools run with user's full ambient shell permissions, inviting prompt injection catastrophe.</a:t>
            </a:r>
          </a:p>
        </p:txBody>
      </p:sp>
      <p:sp>
        <p:nvSpPr>
          <p:cNvPr id="10" name="Rounded Rectangle 9"/>
          <p:cNvSpPr/>
          <p:nvPr/>
        </p:nvSpPr>
        <p:spPr>
          <a:xfrm>
            <a:off x="8046720" y="1737360"/>
            <a:ext cx="338328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965960"/>
            <a:ext cx="2834640" cy="4206240"/>
          </a:xfrm>
          <a:prstGeom prst="rect">
            <a:avLst/>
          </a:prstGeom>
          <a:noFill/>
        </p:spPr>
        <p:txBody>
          <a:bodyPr wrap="square" lIns="0" tIns="0" rIns="0" bIns="0">
            <a:spAutoFit/>
          </a:bodyPr>
          <a:lstStyle/>
          <a:p>
            <a:pPr>
              <a:defRPr sz="1600" b="1">
                <a:solidFill>
                  <a:srgbClr val="F8FAFC"/>
                </a:solidFill>
              </a:defRPr>
            </a:pPr>
            <a:r>
              <a:t>3. The Orion Disruption</a:t>
            </a:r>
          </a:p>
          <a:p>
            <a:pPr>
              <a:spcAft>
                <a:spcPts val="600"/>
              </a:spcAft>
              <a:defRPr sz="1000" b="1">
                <a:solidFill>
                  <a:srgbClr val="00E5FF"/>
                </a:solidFill>
              </a:defRPr>
            </a:pPr>
            <a:r>
              <a:t>DEEPTECH STARTUP SOLUTION</a:t>
            </a:r>
          </a:p>
          <a:p>
            <a:pPr>
              <a:spcBef>
                <a:spcPts val="800"/>
              </a:spcBef>
              <a:defRPr b="1" sz="1200">
                <a:solidFill>
                  <a:srgbClr val="34D399"/>
                </a:solidFill>
              </a:defRPr>
            </a:pPr>
            <a:r>
              <a:t>• Sequential Dynamic Handoff:</a:t>
            </a:r>
          </a:p>
          <a:p>
            <a:pPr>
              <a:defRPr sz="1100">
                <a:solidFill>
                  <a:srgbClr val="F8FAFC"/>
                </a:solidFill>
              </a:defRPr>
            </a:pPr>
            <a:r>
              <a:t>Atomic SSD-to-RAM swaps in 1.18s; strict single-model resident invariant (&lt;2.1 GB RAM).</a:t>
            </a:r>
          </a:p>
          <a:p>
            <a:pPr>
              <a:spcBef>
                <a:spcPts val="800"/>
              </a:spcBef>
              <a:defRPr b="1" sz="1200">
                <a:solidFill>
                  <a:srgbClr val="34D399"/>
                </a:solidFill>
              </a:defRPr>
            </a:pPr>
            <a:r>
              <a:t>• Two-Domain Capability Broker:</a:t>
            </a:r>
          </a:p>
          <a:p>
            <a:pPr>
              <a:defRPr sz="1100">
                <a:solidFill>
                  <a:srgbClr val="F8FAFC"/>
                </a:solidFill>
              </a:defRPr>
            </a:pPr>
            <a:r>
              <a:t>Physical quarantine isolating untrusted document text from directives; 100% injection defense.</a:t>
            </a:r>
          </a:p>
          <a:p>
            <a:pPr>
              <a:spcBef>
                <a:spcPts val="800"/>
              </a:spcBef>
              <a:defRPr b="1" sz="1200">
                <a:solidFill>
                  <a:srgbClr val="34D399"/>
                </a:solidFill>
              </a:defRPr>
            </a:pPr>
            <a:r>
              <a:t>• $0 Incremental Token Cost:</a:t>
            </a:r>
          </a:p>
          <a:p>
            <a:pPr>
              <a:defRPr sz="1100">
                <a:solidFill>
                  <a:srgbClr val="F8FAFC"/>
                </a:solidFill>
              </a:defRPr>
            </a:pPr>
            <a:r>
              <a:t>Infinite scaling on client endpoints; eliminates recurring cloud GPU datacenter bills.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EMPIRICAL VALIDATION &amp; DOCUMENTED SOURCES OF TRUTH</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Real-World Proof: High-Profile Cloud Breaches &amp; Enterprise Bans</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Centralized cloud AI has already inflicted massive financial, intellectual property, and regulatory damage.</a:t>
            </a:r>
          </a:p>
        </p:txBody>
      </p:sp>
      <p:sp>
        <p:nvSpPr>
          <p:cNvPr id="6" name="Rounded Rectangle 5"/>
          <p:cNvSpPr/>
          <p:nvPr/>
        </p:nvSpPr>
        <p:spPr>
          <a:xfrm>
            <a:off x="731520" y="1737360"/>
            <a:ext cx="52578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709160" cy="1691640"/>
          </a:xfrm>
          <a:prstGeom prst="rect">
            <a:avLst/>
          </a:prstGeom>
          <a:noFill/>
        </p:spPr>
        <p:txBody>
          <a:bodyPr wrap="square" lIns="0" tIns="0" rIns="0" bIns="0">
            <a:spAutoFit/>
          </a:bodyPr>
          <a:lstStyle/>
          <a:p>
            <a:pPr>
              <a:defRPr sz="1600" b="1">
                <a:solidFill>
                  <a:srgbClr val="F8FAFC"/>
                </a:solidFill>
              </a:defRPr>
            </a:pPr>
            <a:r>
              <a:t>Samsung Electronics Semiconductor Leak</a:t>
            </a:r>
          </a:p>
          <a:p>
            <a:pPr>
              <a:spcAft>
                <a:spcPts val="600"/>
              </a:spcAft>
              <a:defRPr sz="1000" b="1">
                <a:solidFill>
                  <a:srgbClr val="00E5FF"/>
                </a:solidFill>
              </a:defRPr>
            </a:pPr>
            <a:r>
              <a:t>PROPRIETARY IP LOSS &amp; EMERGENCY BAN</a:t>
            </a:r>
          </a:p>
          <a:p>
            <a:pPr>
              <a:spcBef>
                <a:spcPts val="400"/>
              </a:spcBef>
              <a:defRPr sz="1100">
                <a:solidFill>
                  <a:srgbClr val="F8FAFC"/>
                </a:solidFill>
              </a:defRPr>
            </a:pPr>
            <a:r>
              <a:t>In April 2023, senior semiconductor engineers entered proprietary measurement database source code, wafer yield-optimization software, and an executive meeting recording into ChatGPT to diagnose software bugs. Because terms permitted training ingestion, confidential IP was absorbed into cloud models. Samsung enacted an immediate company-wide prohibition on generative cloud AI.</a:t>
            </a:r>
          </a:p>
          <a:p>
            <a:pPr>
              <a:spcBef>
                <a:spcPts val="500"/>
              </a:spcBef>
              <a:defRPr sz="1000" b="1">
                <a:solidFill>
                  <a:srgbClr val="F87171"/>
                </a:solidFill>
              </a:defRPr>
            </a:pPr>
            <a:r>
              <a:t>⚖ Verified Sources: Bloomberg News (May 2023); Wall Street Journal; Reuters Industry Technology Reports.</a:t>
            </a:r>
          </a:p>
        </p:txBody>
      </p:sp>
      <p:sp>
        <p:nvSpPr>
          <p:cNvPr id="8" name="Rounded Rectangle 7"/>
          <p:cNvSpPr/>
          <p:nvPr/>
        </p:nvSpPr>
        <p:spPr>
          <a:xfrm>
            <a:off x="6172200" y="1737360"/>
            <a:ext cx="52578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65960"/>
            <a:ext cx="4709160" cy="1691640"/>
          </a:xfrm>
          <a:prstGeom prst="rect">
            <a:avLst/>
          </a:prstGeom>
          <a:noFill/>
        </p:spPr>
        <p:txBody>
          <a:bodyPr wrap="square" lIns="0" tIns="0" rIns="0" bIns="0">
            <a:spAutoFit/>
          </a:bodyPr>
          <a:lstStyle/>
          <a:p>
            <a:pPr>
              <a:defRPr sz="1600" b="1">
                <a:solidFill>
                  <a:srgbClr val="F8FAFC"/>
                </a:solidFill>
              </a:defRPr>
            </a:pPr>
            <a:r>
              <a:t>Wall Street Wholesale Banking Ban</a:t>
            </a:r>
          </a:p>
          <a:p>
            <a:pPr>
              <a:spcAft>
                <a:spcPts val="600"/>
              </a:spcAft>
              <a:defRPr sz="1000" b="1">
                <a:solidFill>
                  <a:srgbClr val="00E5FF"/>
                </a:solidFill>
              </a:defRPr>
            </a:pPr>
            <a:r>
              <a:t>SEC RULE 17A-4 &amp; FINRA STATUTORY MANDATES</a:t>
            </a:r>
          </a:p>
          <a:p>
            <a:pPr>
              <a:spcBef>
                <a:spcPts val="400"/>
              </a:spcBef>
              <a:defRPr sz="1100">
                <a:solidFill>
                  <a:srgbClr val="F8FAFC"/>
                </a:solidFill>
              </a:defRPr>
            </a:pPr>
            <a:r>
              <a:t>JPMorgan Chase, Citigroup, Bank of America, Goldman Sachs, Morgan Stanley, and Deutsche Bank implemented strict enterprise bans blocking employee access to cloud LLMs. Federal banking regulations impose severe civil and criminal penalties if confidential client trades, merger negotiations, or investment portfolios traverse unarchived third-party conduits.</a:t>
            </a:r>
          </a:p>
          <a:p>
            <a:pPr>
              <a:spcBef>
                <a:spcPts val="500"/>
              </a:spcBef>
              <a:defRPr sz="1000" b="1">
                <a:solidFill>
                  <a:srgbClr val="FB923C"/>
                </a:solidFill>
              </a:defRPr>
            </a:pPr>
            <a:r>
              <a:t>⚖ Verified Sources: Wall Street Journal (Feb 2023); Bloomberg Financial Regulations Review; SEC Rule 17a-4 Fines.</a:t>
            </a:r>
          </a:p>
        </p:txBody>
      </p:sp>
      <p:sp>
        <p:nvSpPr>
          <p:cNvPr id="10" name="Rounded Rectangle 9"/>
          <p:cNvSpPr/>
          <p:nvPr/>
        </p:nvSpPr>
        <p:spPr>
          <a:xfrm>
            <a:off x="731520" y="4069079"/>
            <a:ext cx="52578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97679"/>
            <a:ext cx="4709160" cy="1691640"/>
          </a:xfrm>
          <a:prstGeom prst="rect">
            <a:avLst/>
          </a:prstGeom>
          <a:noFill/>
        </p:spPr>
        <p:txBody>
          <a:bodyPr wrap="square" lIns="0" tIns="0" rIns="0" bIns="0">
            <a:spAutoFit/>
          </a:bodyPr>
          <a:lstStyle/>
          <a:p>
            <a:pPr>
              <a:defRPr sz="1600" b="1">
                <a:solidFill>
                  <a:srgbClr val="F8FAFC"/>
                </a:solidFill>
              </a:defRPr>
            </a:pPr>
            <a:r>
              <a:t>Healthcare &amp; Hospital HIPAA Violations</a:t>
            </a:r>
          </a:p>
          <a:p>
            <a:pPr>
              <a:spcAft>
                <a:spcPts val="600"/>
              </a:spcAft>
              <a:defRPr sz="1000" b="1">
                <a:solidFill>
                  <a:srgbClr val="00E5FF"/>
                </a:solidFill>
              </a:defRPr>
            </a:pPr>
            <a:r>
              <a:t>STATUTORY PHI LEGAL LIABILITY</a:t>
            </a:r>
          </a:p>
          <a:p>
            <a:pPr>
              <a:spcBef>
                <a:spcPts val="400"/>
              </a:spcBef>
              <a:defRPr sz="1100">
                <a:solidFill>
                  <a:srgbClr val="F8FAFC"/>
                </a:solidFill>
              </a:defRPr>
            </a:pPr>
            <a:r>
              <a:t>Healthcare providers uploading patient pathology narratives, clinical charts, and genomic scans to commercial cloud assistants directly violate HIPAA Safe Harbor and HITECH mandates, incurring statutory fines up to $50,000 per violation and institutional reputational damage.</a:t>
            </a:r>
          </a:p>
          <a:p>
            <a:pPr>
              <a:spcBef>
                <a:spcPts val="500"/>
              </a:spcBef>
              <a:defRPr sz="1000" b="1">
                <a:solidFill>
                  <a:srgbClr val="8B5CF6"/>
                </a:solidFill>
              </a:defRPr>
            </a:pPr>
            <a:r>
              <a:t>⚖ Verified Sources: US Dept of Health and Human Services (HHS) OCR Enforcement Guidelines; HIPAA Title II Compliance.</a:t>
            </a:r>
          </a:p>
        </p:txBody>
      </p:sp>
      <p:sp>
        <p:nvSpPr>
          <p:cNvPr id="12" name="Rounded Rectangle 11"/>
          <p:cNvSpPr/>
          <p:nvPr/>
        </p:nvSpPr>
        <p:spPr>
          <a:xfrm>
            <a:off x="6172200" y="4069079"/>
            <a:ext cx="52578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297679"/>
            <a:ext cx="4709160" cy="1691640"/>
          </a:xfrm>
          <a:prstGeom prst="rect">
            <a:avLst/>
          </a:prstGeom>
          <a:noFill/>
        </p:spPr>
        <p:txBody>
          <a:bodyPr wrap="square" lIns="0" tIns="0" rIns="0" bIns="0">
            <a:spAutoFit/>
          </a:bodyPr>
          <a:lstStyle/>
          <a:p>
            <a:pPr>
              <a:defRPr sz="1600" b="1">
                <a:solidFill>
                  <a:srgbClr val="F8FAFC"/>
                </a:solidFill>
              </a:defRPr>
            </a:pPr>
            <a:r>
              <a:t>EU GDPR Regulatory Injunctions &amp; Fines</a:t>
            </a:r>
          </a:p>
          <a:p>
            <a:pPr>
              <a:spcAft>
                <a:spcPts val="600"/>
              </a:spcAft>
              <a:defRPr sz="1000" b="1">
                <a:solidFill>
                  <a:srgbClr val="00E5FF"/>
                </a:solidFill>
              </a:defRPr>
            </a:pPr>
            <a:r>
              <a:t>ARTICLE 83 ENFORCEMENT &amp; FTC INVESTIGATIONS</a:t>
            </a:r>
          </a:p>
          <a:p>
            <a:pPr>
              <a:spcBef>
                <a:spcPts val="400"/>
              </a:spcBef>
              <a:defRPr sz="1100">
                <a:solidFill>
                  <a:srgbClr val="F8FAFC"/>
                </a:solidFill>
              </a:defRPr>
            </a:pPr>
            <a:r>
              <a:t>The Italian Data Protection Authority (GPDP) issued an immediate injunction against ChatGPT under GDPR Article 83 for lack of legal basis in data processing. Simultaneously, the US FTC opened formal investigations into deceptive AI privacy claims and consumer data exposure.</a:t>
            </a:r>
          </a:p>
          <a:p>
            <a:pPr>
              <a:spcBef>
                <a:spcPts val="500"/>
              </a:spcBef>
              <a:defRPr sz="1000" b="1">
                <a:solidFill>
                  <a:srgbClr val="00E5FF"/>
                </a:solidFill>
              </a:defRPr>
            </a:pPr>
            <a:r>
              <a:t>⚖ Verified Sources: GPDP Official Order (March 2023); European Data Protection Board; FTC Staff Report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HARDWARE PHYSICS &amp; COMMODITY WORKSTATION REALITY</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The 8 GB RAM / 5.7 GB Usable Frontier: Why Traditional Edge AI Fails</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Over 70% of enterprise laptops operate with 8 GB physical RAM and integrated graphics reservations.</a:t>
            </a:r>
          </a:p>
        </p:txBody>
      </p:sp>
      <p:sp>
        <p:nvSpPr>
          <p:cNvPr id="6" name="Rounded Rectangle 5"/>
          <p:cNvSpPr/>
          <p:nvPr/>
        </p:nvSpPr>
        <p:spPr>
          <a:xfrm>
            <a:off x="731520" y="1737360"/>
            <a:ext cx="512064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4206240"/>
          </a:xfrm>
          <a:prstGeom prst="rect">
            <a:avLst/>
          </a:prstGeom>
          <a:noFill/>
        </p:spPr>
        <p:txBody>
          <a:bodyPr wrap="square" lIns="0" tIns="0" rIns="0" bIns="0">
            <a:spAutoFit/>
          </a:bodyPr>
          <a:lstStyle/>
          <a:p>
            <a:pPr>
              <a:defRPr sz="1600" b="1">
                <a:solidFill>
                  <a:srgbClr val="F8FAFC"/>
                </a:solidFill>
              </a:defRPr>
            </a:pPr>
            <a:r>
              <a:t>Hardware Memory Breakdown (AMD/Intel iGPU)</a:t>
            </a:r>
          </a:p>
          <a:p>
            <a:pPr>
              <a:spcAft>
                <a:spcPts val="600"/>
              </a:spcAft>
              <a:defRPr sz="1000" b="1">
                <a:solidFill>
                  <a:srgbClr val="00E5FF"/>
                </a:solidFill>
              </a:defRPr>
            </a:pPr>
            <a:r>
              <a:t>STRICT PHYSICAL INVARIANTS</a:t>
            </a:r>
          </a:p>
          <a:p>
            <a:pPr>
              <a:spcBef>
                <a:spcPts val="700"/>
              </a:spcBef>
              <a:defRPr b="1" sz="1200">
                <a:solidFill>
                  <a:srgbClr val="F8FAFC"/>
                </a:solidFill>
              </a:defRPr>
            </a:pPr>
            <a:r>
              <a:t>Total Physical SO-DIMM RAM: 8.00 GB</a:t>
            </a:r>
          </a:p>
          <a:p>
            <a:pPr>
              <a:defRPr sz="1050">
                <a:solidFill>
                  <a:srgbClr val="F8FAFC"/>
                </a:solidFill>
              </a:defRPr>
            </a:pPr>
            <a:r>
              <a:t>Physical DDR4/DDR5 capacity installed on workstation motherboard.</a:t>
            </a:r>
          </a:p>
          <a:p>
            <a:pPr>
              <a:spcBef>
                <a:spcPts val="700"/>
              </a:spcBef>
              <a:defRPr b="1" sz="1200">
                <a:solidFill>
                  <a:srgbClr val="F87171"/>
                </a:solidFill>
              </a:defRPr>
            </a:pPr>
            <a:r>
              <a:t>Integrated GPU Hardware Reservation: -2.28 GB</a:t>
            </a:r>
          </a:p>
          <a:p>
            <a:pPr>
              <a:defRPr sz="1050">
                <a:solidFill>
                  <a:srgbClr val="F8FAFC"/>
                </a:solidFill>
              </a:defRPr>
            </a:pPr>
            <a:r>
              <a:t>BIOS-level static reservation for Radeon/Intel framebuffers. Inaccessible to OS.</a:t>
            </a:r>
          </a:p>
          <a:p>
            <a:pPr>
              <a:spcBef>
                <a:spcPts val="700"/>
              </a:spcBef>
              <a:defRPr b="1" sz="1200">
                <a:solidFill>
                  <a:srgbClr val="00E5FF"/>
                </a:solidFill>
              </a:defRPr>
            </a:pPr>
            <a:r>
              <a:t>Real Usable System Memory: = 5.72 GB</a:t>
            </a:r>
          </a:p>
          <a:p>
            <a:pPr>
              <a:defRPr sz="1050">
                <a:solidFill>
                  <a:srgbClr val="F8FAFC"/>
                </a:solidFill>
              </a:defRPr>
            </a:pPr>
            <a:r>
              <a:t>Absolute physical memory headroom managed by Windows kernel.</a:t>
            </a:r>
          </a:p>
          <a:p>
            <a:pPr>
              <a:spcBef>
                <a:spcPts val="700"/>
              </a:spcBef>
              <a:defRPr b="1" sz="1200">
                <a:solidFill>
                  <a:srgbClr val="FB923C"/>
                </a:solidFill>
              </a:defRPr>
            </a:pPr>
            <a:r>
              <a:t>Windows 11 OS &amp; Shell Services: -2.30 GB</a:t>
            </a:r>
          </a:p>
          <a:p>
            <a:pPr>
              <a:defRPr sz="1050">
                <a:solidFill>
                  <a:srgbClr val="F8FAFC"/>
                </a:solidFill>
              </a:defRPr>
            </a:pPr>
            <a:r>
              <a:t>Desktop Window Manager, security services, background processes.</a:t>
            </a:r>
          </a:p>
          <a:p>
            <a:pPr>
              <a:spcBef>
                <a:spcPts val="700"/>
              </a:spcBef>
              <a:defRPr b="1" sz="1200">
                <a:solidFill>
                  <a:srgbClr val="34D399"/>
                </a:solidFill>
              </a:defRPr>
            </a:pPr>
            <a:r>
              <a:t>Maximum Allowable AI Headroom: = 3.42 GB</a:t>
            </a:r>
          </a:p>
          <a:p>
            <a:pPr>
              <a:defRPr sz="1050">
                <a:solidFill>
                  <a:srgbClr val="F8FAFC"/>
                </a:solidFill>
              </a:defRPr>
            </a:pPr>
            <a:r>
              <a:t>Upper bound for runtime engine, weights, KV cache, and agent sidecars.</a:t>
            </a:r>
          </a:p>
        </p:txBody>
      </p:sp>
      <p:sp>
        <p:nvSpPr>
          <p:cNvPr id="8" name="Rounded Rectangle 7"/>
          <p:cNvSpPr/>
          <p:nvPr/>
        </p:nvSpPr>
        <p:spPr>
          <a:xfrm>
            <a:off x="6126480" y="1737360"/>
            <a:ext cx="530352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4206240"/>
          </a:xfrm>
          <a:prstGeom prst="rect">
            <a:avLst/>
          </a:prstGeom>
          <a:noFill/>
        </p:spPr>
        <p:txBody>
          <a:bodyPr wrap="square" lIns="0" tIns="0" rIns="0" bIns="0">
            <a:spAutoFit/>
          </a:bodyPr>
          <a:lstStyle/>
          <a:p>
            <a:pPr>
              <a:defRPr sz="1600" b="1">
                <a:solidFill>
                  <a:srgbClr val="F8FAFC"/>
                </a:solidFill>
              </a:defRPr>
            </a:pPr>
            <a:r>
              <a:t>The Fatal Concurrent Multi-Model Deadlock</a:t>
            </a:r>
          </a:p>
          <a:p>
            <a:pPr>
              <a:spcAft>
                <a:spcPts val="600"/>
              </a:spcAft>
              <a:defRPr sz="1000" b="1">
                <a:solidFill>
                  <a:srgbClr val="00E5FF"/>
                </a:solidFill>
              </a:defRPr>
            </a:pPr>
            <a:r>
              <a:t>FAILURE MODE OF EXISTING RUNTIMES</a:t>
            </a:r>
          </a:p>
          <a:p>
            <a:pPr>
              <a:spcBef>
                <a:spcPts val="700"/>
              </a:spcBef>
              <a:defRPr b="1" sz="1200">
                <a:solidFill>
                  <a:srgbClr val="FB923C"/>
                </a:solidFill>
              </a:defRPr>
            </a:pPr>
            <a:r>
              <a:t>• The Developer Illusion</a:t>
            </a:r>
          </a:p>
          <a:p>
            <a:pPr>
              <a:defRPr sz="1100">
                <a:solidFill>
                  <a:srgbClr val="F8FAFC"/>
                </a:solidFill>
              </a:defRPr>
            </a:pPr>
            <a:r>
              <a:t>Traditional runtimes (Ollama, LM Studio) assume multi-model specialization requires keeping General (2.1 GB) and Coder (2.1 GB) models simultaneously in RAM.</a:t>
            </a:r>
          </a:p>
          <a:p>
            <a:pPr>
              <a:spcBef>
                <a:spcPts val="700"/>
              </a:spcBef>
              <a:defRPr b="1" sz="1200">
                <a:solidFill>
                  <a:srgbClr val="F87171"/>
                </a:solidFill>
              </a:defRPr>
            </a:pPr>
            <a:r>
              <a:t>• Fatal Memory Overflow</a:t>
            </a:r>
          </a:p>
          <a:p>
            <a:pPr>
              <a:defRPr sz="1100">
                <a:solidFill>
                  <a:srgbClr val="F8FAFC"/>
                </a:solidFill>
              </a:defRPr>
            </a:pPr>
            <a:r>
              <a:t>2.1 GB (General) + 2.1 GB (Coder) + 2.3 GB (OS Baseline) = 6.5 GB RSS.</a:t>
            </a:r>
            <a:br/>
            <a:r>
              <a:t>Exceeds 5.72 GB usable system RAM by 780 MB!</a:t>
            </a:r>
          </a:p>
          <a:p>
            <a:pPr>
              <a:spcBef>
                <a:spcPts val="700"/>
              </a:spcBef>
              <a:defRPr b="1" sz="1200">
                <a:solidFill>
                  <a:srgbClr val="F87171"/>
                </a:solidFill>
              </a:defRPr>
            </a:pPr>
            <a:r>
              <a:t>• Catastrophic Pagefile Thrash</a:t>
            </a:r>
          </a:p>
          <a:p>
            <a:pPr>
              <a:defRPr sz="1100">
                <a:solidFill>
                  <a:srgbClr val="F8FAFC"/>
                </a:solidFill>
              </a:defRPr>
            </a:pPr>
            <a:r>
              <a:t>The Windows Memory Manager enters an unrecoverable hard page-fault cascade (850+ faults/s) against the SSD. Desktop freezes and locks up.</a:t>
            </a:r>
          </a:p>
          <a:p>
            <a:pPr>
              <a:spcBef>
                <a:spcPts val="700"/>
              </a:spcBef>
              <a:defRPr b="1" sz="1200">
                <a:solidFill>
                  <a:srgbClr val="34D399"/>
                </a:solidFill>
              </a:defRPr>
            </a:pPr>
            <a:r>
              <a:t>• The Orion Breakthrough</a:t>
            </a:r>
          </a:p>
          <a:p>
            <a:pPr>
              <a:defRPr sz="1100">
                <a:solidFill>
                  <a:srgbClr val="F8FAFC"/>
                </a:solidFill>
              </a:defRPr>
            </a:pPr>
            <a:r>
              <a:t>Sequential Dynamic Handoff keeps both specialized models on SSD and swaps them atomically in 1.18 seconds. RAM RSS never exceeds 2.05 GB. 0 page faults.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SYSTEM ARCHITECTURE &amp; PRODUCTION DEPLOYMENT</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The Orion Solution: Production Deployed M1–M10 Architecture</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Orion is not a theoretical prototype. All 10 engineering milestones are fully implemented, validated, and active.</a:t>
            </a:r>
          </a:p>
        </p:txBody>
      </p:sp>
      <p:sp>
        <p:nvSpPr>
          <p:cNvPr id="6" name="Rounded Rectangle 5"/>
          <p:cNvSpPr/>
          <p:nvPr/>
        </p:nvSpPr>
        <p:spPr>
          <a:xfrm>
            <a:off x="731520" y="1737360"/>
            <a:ext cx="20574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1508760" cy="1691640"/>
          </a:xfrm>
          <a:prstGeom prst="rect">
            <a:avLst/>
          </a:prstGeom>
          <a:noFill/>
        </p:spPr>
        <p:txBody>
          <a:bodyPr wrap="square" lIns="0" tIns="0" rIns="0" bIns="0">
            <a:spAutoFit/>
          </a:bodyPr>
          <a:lstStyle/>
          <a:p>
            <a:pPr>
              <a:defRPr sz="1600" b="1">
                <a:solidFill>
                  <a:srgbClr val="F8FAFC"/>
                </a:solidFill>
              </a:defRPr>
            </a:pPr>
            <a:r>
              <a:rPr sz="1300">
                <a:solidFill>
                  <a:srgbClr val="00E5FF"/>
                </a:solidFill>
              </a:rPr>
              <a:t>M1: C++ Engine</a:t>
            </a:r>
          </a:p>
          <a:p>
            <a:pPr>
              <a:spcBef>
                <a:spcPts val="400"/>
              </a:spcBef>
              <a:defRPr sz="1100">
                <a:solidFill>
                  <a:srgbClr val="F8FAFC"/>
                </a:solidFill>
              </a:defRPr>
            </a:pPr>
            <a:r>
              <a:t>Embedded llama-server, SSE token streaming, sub-second startup.</a:t>
            </a:r>
          </a:p>
        </p:txBody>
      </p:sp>
      <p:sp>
        <p:nvSpPr>
          <p:cNvPr id="8" name="Rounded Rectangle 7"/>
          <p:cNvSpPr/>
          <p:nvPr/>
        </p:nvSpPr>
        <p:spPr>
          <a:xfrm>
            <a:off x="2907791" y="1737360"/>
            <a:ext cx="20574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2111" y="1965960"/>
            <a:ext cx="1508760" cy="1691640"/>
          </a:xfrm>
          <a:prstGeom prst="rect">
            <a:avLst/>
          </a:prstGeom>
          <a:noFill/>
        </p:spPr>
        <p:txBody>
          <a:bodyPr wrap="square" lIns="0" tIns="0" rIns="0" bIns="0">
            <a:spAutoFit/>
          </a:bodyPr>
          <a:lstStyle/>
          <a:p>
            <a:pPr>
              <a:defRPr sz="1600" b="1">
                <a:solidFill>
                  <a:srgbClr val="F8FAFC"/>
                </a:solidFill>
              </a:defRPr>
            </a:pPr>
            <a:r>
              <a:rPr sz="1300">
                <a:solidFill>
                  <a:srgbClr val="8B5CF6"/>
                </a:solidFill>
              </a:rPr>
              <a:t>M2: Hybrid RAG</a:t>
            </a:r>
          </a:p>
          <a:p>
            <a:pPr>
              <a:spcBef>
                <a:spcPts val="400"/>
              </a:spcBef>
              <a:defRPr sz="1100">
                <a:solidFill>
                  <a:srgbClr val="F8FAFC"/>
                </a:solidFill>
              </a:defRPr>
            </a:pPr>
            <a:r>
              <a:t>MiniLM vector embeddings + SQLite FTS5 BM25 search.</a:t>
            </a:r>
          </a:p>
        </p:txBody>
      </p:sp>
      <p:sp>
        <p:nvSpPr>
          <p:cNvPr id="10" name="Rounded Rectangle 9"/>
          <p:cNvSpPr/>
          <p:nvPr/>
        </p:nvSpPr>
        <p:spPr>
          <a:xfrm>
            <a:off x="5084064" y="1737360"/>
            <a:ext cx="20574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58384" y="1965960"/>
            <a:ext cx="1508760" cy="1691640"/>
          </a:xfrm>
          <a:prstGeom prst="rect">
            <a:avLst/>
          </a:prstGeom>
          <a:noFill/>
        </p:spPr>
        <p:txBody>
          <a:bodyPr wrap="square" lIns="0" tIns="0" rIns="0" bIns="0">
            <a:spAutoFit/>
          </a:bodyPr>
          <a:lstStyle/>
          <a:p>
            <a:pPr>
              <a:defRPr sz="1600" b="1">
                <a:solidFill>
                  <a:srgbClr val="F8FAFC"/>
                </a:solidFill>
              </a:defRPr>
            </a:pPr>
            <a:r>
              <a:rPr sz="1300">
                <a:solidFill>
                  <a:srgbClr val="34D399"/>
                </a:solidFill>
              </a:rPr>
              <a:t>M3: Desktop HUD</a:t>
            </a:r>
          </a:p>
          <a:p>
            <a:pPr>
              <a:spcBef>
                <a:spcPts val="400"/>
              </a:spcBef>
              <a:defRPr sz="1100">
                <a:solidFill>
                  <a:srgbClr val="F8FAFC"/>
                </a:solidFill>
              </a:defRPr>
            </a:pPr>
            <a:r>
              <a:t>Global Ctrl+Shift+0 hotkey daemon &amp; instant tray overlay.</a:t>
            </a:r>
          </a:p>
        </p:txBody>
      </p:sp>
      <p:sp>
        <p:nvSpPr>
          <p:cNvPr id="12" name="Rounded Rectangle 11"/>
          <p:cNvSpPr/>
          <p:nvPr/>
        </p:nvSpPr>
        <p:spPr>
          <a:xfrm>
            <a:off x="7260336" y="1737360"/>
            <a:ext cx="20574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34656" y="1965960"/>
            <a:ext cx="1508760" cy="1691640"/>
          </a:xfrm>
          <a:prstGeom prst="rect">
            <a:avLst/>
          </a:prstGeom>
          <a:noFill/>
        </p:spPr>
        <p:txBody>
          <a:bodyPr wrap="square" lIns="0" tIns="0" rIns="0" bIns="0">
            <a:spAutoFit/>
          </a:bodyPr>
          <a:lstStyle/>
          <a:p>
            <a:pPr>
              <a:defRPr sz="1600" b="1">
                <a:solidFill>
                  <a:srgbClr val="F8FAFC"/>
                </a:solidFill>
              </a:defRPr>
            </a:pPr>
            <a:r>
              <a:rPr sz="1300">
                <a:solidFill>
                  <a:srgbClr val="FB923C"/>
                </a:solidFill>
              </a:rPr>
              <a:t>M4: Voice Loop</a:t>
            </a:r>
          </a:p>
          <a:p>
            <a:pPr>
              <a:spcBef>
                <a:spcPts val="400"/>
              </a:spcBef>
              <a:defRPr sz="1100">
                <a:solidFill>
                  <a:srgbClr val="F8FAFC"/>
                </a:solidFill>
              </a:defRPr>
            </a:pPr>
            <a:r>
              <a:t>Whisper.cpp edge STT + neural Piper TTS speech pipeline.</a:t>
            </a:r>
          </a:p>
        </p:txBody>
      </p:sp>
      <p:sp>
        <p:nvSpPr>
          <p:cNvPr id="14" name="Rounded Rectangle 13"/>
          <p:cNvSpPr/>
          <p:nvPr/>
        </p:nvSpPr>
        <p:spPr>
          <a:xfrm>
            <a:off x="9436608" y="1737360"/>
            <a:ext cx="2057400" cy="21488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10928" y="1965960"/>
            <a:ext cx="1508760" cy="1691640"/>
          </a:xfrm>
          <a:prstGeom prst="rect">
            <a:avLst/>
          </a:prstGeom>
          <a:noFill/>
        </p:spPr>
        <p:txBody>
          <a:bodyPr wrap="square" lIns="0" tIns="0" rIns="0" bIns="0">
            <a:spAutoFit/>
          </a:bodyPr>
          <a:lstStyle/>
          <a:p>
            <a:pPr>
              <a:defRPr sz="1600" b="1">
                <a:solidFill>
                  <a:srgbClr val="F8FAFC"/>
                </a:solidFill>
              </a:defRPr>
            </a:pPr>
            <a:r>
              <a:rPr sz="1300">
                <a:solidFill>
                  <a:srgbClr val="00E5FF"/>
                </a:solidFill>
              </a:rPr>
              <a:t>M5: Capability Broker</a:t>
            </a:r>
          </a:p>
          <a:p>
            <a:pPr>
              <a:spcBef>
                <a:spcPts val="400"/>
              </a:spcBef>
              <a:defRPr sz="1100">
                <a:solidFill>
                  <a:srgbClr val="F8FAFC"/>
                </a:solidFill>
              </a:defRPr>
            </a:pPr>
            <a:r>
              <a:t>4-tier permission matrix (T0–T3) with immutable SQLite WAL.</a:t>
            </a:r>
          </a:p>
        </p:txBody>
      </p:sp>
      <p:sp>
        <p:nvSpPr>
          <p:cNvPr id="16" name="Rounded Rectangle 15"/>
          <p:cNvSpPr/>
          <p:nvPr/>
        </p:nvSpPr>
        <p:spPr>
          <a:xfrm>
            <a:off x="731520" y="4114800"/>
            <a:ext cx="2057400" cy="224028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343400"/>
            <a:ext cx="1508760" cy="1783080"/>
          </a:xfrm>
          <a:prstGeom prst="rect">
            <a:avLst/>
          </a:prstGeom>
          <a:noFill/>
        </p:spPr>
        <p:txBody>
          <a:bodyPr wrap="square" lIns="0" tIns="0" rIns="0" bIns="0">
            <a:spAutoFit/>
          </a:bodyPr>
          <a:lstStyle/>
          <a:p>
            <a:pPr>
              <a:defRPr sz="1600" b="1">
                <a:solidFill>
                  <a:srgbClr val="F8FAFC"/>
                </a:solidFill>
              </a:defRPr>
            </a:pPr>
            <a:r>
              <a:rPr sz="1300">
                <a:solidFill>
                  <a:srgbClr val="8B5CF6"/>
                </a:solidFill>
              </a:rPr>
              <a:t>M6: Auto-Installer</a:t>
            </a:r>
          </a:p>
          <a:p>
            <a:pPr>
              <a:spcBef>
                <a:spcPts val="400"/>
              </a:spcBef>
              <a:defRPr sz="1100">
                <a:solidFill>
                  <a:srgbClr val="F8FAFC"/>
                </a:solidFill>
              </a:defRPr>
            </a:pPr>
            <a:r>
              <a:t>Windows NSIS packaging, streaming background assets.</a:t>
            </a:r>
          </a:p>
        </p:txBody>
      </p:sp>
      <p:sp>
        <p:nvSpPr>
          <p:cNvPr id="18" name="Rounded Rectangle 17"/>
          <p:cNvSpPr/>
          <p:nvPr/>
        </p:nvSpPr>
        <p:spPr>
          <a:xfrm>
            <a:off x="2907791" y="4114800"/>
            <a:ext cx="2057400" cy="224028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82111" y="4343400"/>
            <a:ext cx="1508760" cy="1783080"/>
          </a:xfrm>
          <a:prstGeom prst="rect">
            <a:avLst/>
          </a:prstGeom>
          <a:noFill/>
        </p:spPr>
        <p:txBody>
          <a:bodyPr wrap="square" lIns="0" tIns="0" rIns="0" bIns="0">
            <a:spAutoFit/>
          </a:bodyPr>
          <a:lstStyle/>
          <a:p>
            <a:pPr>
              <a:defRPr sz="1600" b="1">
                <a:solidFill>
                  <a:srgbClr val="F8FAFC"/>
                </a:solidFill>
              </a:defRPr>
            </a:pPr>
            <a:r>
              <a:rPr sz="1300">
                <a:solidFill>
                  <a:srgbClr val="34D399"/>
                </a:solidFill>
              </a:rPr>
              <a:t>M7: Sovereign Email</a:t>
            </a:r>
          </a:p>
          <a:p>
            <a:pPr>
              <a:spcBef>
                <a:spcPts val="400"/>
              </a:spcBef>
              <a:defRPr sz="1100">
                <a:solidFill>
                  <a:srgbClr val="F8FAFC"/>
                </a:solidFill>
              </a:defRPr>
            </a:pPr>
            <a:r>
              <a:t>DEPLOYED: Offline IMAP/SMTP triage &amp; Broker-guarded drafts.</a:t>
            </a:r>
          </a:p>
        </p:txBody>
      </p:sp>
      <p:sp>
        <p:nvSpPr>
          <p:cNvPr id="20" name="Rounded Rectangle 19"/>
          <p:cNvSpPr/>
          <p:nvPr/>
        </p:nvSpPr>
        <p:spPr>
          <a:xfrm>
            <a:off x="5084064" y="4114800"/>
            <a:ext cx="2057400" cy="224028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58384" y="4343400"/>
            <a:ext cx="1508760" cy="1783080"/>
          </a:xfrm>
          <a:prstGeom prst="rect">
            <a:avLst/>
          </a:prstGeom>
          <a:noFill/>
        </p:spPr>
        <p:txBody>
          <a:bodyPr wrap="square" lIns="0" tIns="0" rIns="0" bIns="0">
            <a:spAutoFit/>
          </a:bodyPr>
          <a:lstStyle/>
          <a:p>
            <a:pPr>
              <a:defRPr sz="1600" b="1">
                <a:solidFill>
                  <a:srgbClr val="F8FAFC"/>
                </a:solidFill>
              </a:defRPr>
            </a:pPr>
            <a:r>
              <a:rPr sz="1300">
                <a:solidFill>
                  <a:srgbClr val="FB923C"/>
                </a:solidFill>
              </a:rPr>
              <a:t>M8: Sandboxed Browser</a:t>
            </a:r>
          </a:p>
          <a:p>
            <a:pPr>
              <a:spcBef>
                <a:spcPts val="400"/>
              </a:spcBef>
              <a:defRPr sz="1100">
                <a:solidFill>
                  <a:srgbClr val="F8FAFC"/>
                </a:solidFill>
              </a:defRPr>
            </a:pPr>
            <a:r>
              <a:t>DEPLOYED: Playwright headless DOM tree &amp; safe automation.</a:t>
            </a:r>
          </a:p>
        </p:txBody>
      </p:sp>
      <p:sp>
        <p:nvSpPr>
          <p:cNvPr id="22" name="Rounded Rectangle 21"/>
          <p:cNvSpPr/>
          <p:nvPr/>
        </p:nvSpPr>
        <p:spPr>
          <a:xfrm>
            <a:off x="7260336" y="4114800"/>
            <a:ext cx="2057400" cy="224028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343400"/>
            <a:ext cx="1508760" cy="1783080"/>
          </a:xfrm>
          <a:prstGeom prst="rect">
            <a:avLst/>
          </a:prstGeom>
          <a:noFill/>
        </p:spPr>
        <p:txBody>
          <a:bodyPr wrap="square" lIns="0" tIns="0" rIns="0" bIns="0">
            <a:spAutoFit/>
          </a:bodyPr>
          <a:lstStyle/>
          <a:p>
            <a:pPr>
              <a:defRPr sz="1600" b="1">
                <a:solidFill>
                  <a:srgbClr val="F8FAFC"/>
                </a:solidFill>
              </a:defRPr>
            </a:pPr>
            <a:r>
              <a:rPr sz="1300">
                <a:solidFill>
                  <a:srgbClr val="00E5FF"/>
                </a:solidFill>
              </a:rPr>
              <a:t>M9: OS UI Automation</a:t>
            </a:r>
          </a:p>
          <a:p>
            <a:pPr>
              <a:spcBef>
                <a:spcPts val="400"/>
              </a:spcBef>
              <a:defRPr sz="1100">
                <a:solidFill>
                  <a:srgbClr val="F8FAFC"/>
                </a:solidFill>
              </a:defRPr>
            </a:pPr>
            <a:r>
              <a:t>DEPLOYED: Win32 accessibility UI automation across apps.</a:t>
            </a:r>
          </a:p>
        </p:txBody>
      </p:sp>
      <p:sp>
        <p:nvSpPr>
          <p:cNvPr id="24" name="Rounded Rectangle 23"/>
          <p:cNvSpPr/>
          <p:nvPr/>
        </p:nvSpPr>
        <p:spPr>
          <a:xfrm>
            <a:off x="9436608" y="4114800"/>
            <a:ext cx="2057400" cy="224028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10928" y="4343400"/>
            <a:ext cx="1508760" cy="1783080"/>
          </a:xfrm>
          <a:prstGeom prst="rect">
            <a:avLst/>
          </a:prstGeom>
          <a:noFill/>
        </p:spPr>
        <p:txBody>
          <a:bodyPr wrap="square" lIns="0" tIns="0" rIns="0" bIns="0">
            <a:spAutoFit/>
          </a:bodyPr>
          <a:lstStyle/>
          <a:p>
            <a:pPr>
              <a:defRPr sz="1600" b="1">
                <a:solidFill>
                  <a:srgbClr val="F8FAFC"/>
                </a:solidFill>
              </a:defRPr>
            </a:pPr>
            <a:r>
              <a:rPr sz="1300">
                <a:solidFill>
                  <a:srgbClr val="34D399"/>
                </a:solidFill>
              </a:rPr>
              <a:t>M10: Kernel Hardening</a:t>
            </a:r>
          </a:p>
          <a:p>
            <a:pPr>
              <a:spcBef>
                <a:spcPts val="400"/>
              </a:spcBef>
              <a:defRPr sz="1100">
                <a:solidFill>
                  <a:srgbClr val="F8FAFC"/>
                </a:solidFill>
              </a:defRPr>
            </a:pPr>
            <a:r>
              <a:t>DEPLOYED: AppContainer sandbox, SHA-256 PIN, zero-egress cert.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PROPRIETARY RUNTIME OPTIMIZATION &amp; MOAT</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Sequential Dynamic Handoff: The Single-Model Invariant</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Achieving expert-level multi-domain intelligence without violating the 5.7 GB physical memory ceiling.</a:t>
            </a:r>
          </a:p>
        </p:txBody>
      </p:sp>
      <p:sp>
        <p:nvSpPr>
          <p:cNvPr id="6" name="Rounded Rectangle 5"/>
          <p:cNvSpPr/>
          <p:nvPr/>
        </p:nvSpPr>
        <p:spPr>
          <a:xfrm>
            <a:off x="731520" y="1737360"/>
            <a:ext cx="512064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4206240"/>
          </a:xfrm>
          <a:prstGeom prst="rect">
            <a:avLst/>
          </a:prstGeom>
          <a:noFill/>
        </p:spPr>
        <p:txBody>
          <a:bodyPr wrap="square" lIns="0" tIns="0" rIns="0" bIns="0">
            <a:spAutoFit/>
          </a:bodyPr>
          <a:lstStyle/>
          <a:p>
            <a:pPr>
              <a:defRPr sz="1600" b="1">
                <a:solidFill>
                  <a:srgbClr val="F8FAFC"/>
                </a:solidFill>
              </a:defRPr>
            </a:pPr>
            <a:r>
              <a:t>The Sequential Handoff State Machine</a:t>
            </a:r>
          </a:p>
          <a:p>
            <a:pPr>
              <a:spcAft>
                <a:spcPts val="600"/>
              </a:spcAft>
              <a:defRPr sz="1000" b="1">
                <a:solidFill>
                  <a:srgbClr val="00E5FF"/>
                </a:solidFill>
              </a:defRPr>
            </a:pPr>
            <a:r>
              <a:t>PATENTED EXECUTION MODEL</a:t>
            </a:r>
          </a:p>
          <a:p>
            <a:pPr>
              <a:spcBef>
                <a:spcPts val="600"/>
              </a:spcBef>
              <a:defRPr b="1" sz="1200">
                <a:solidFill>
                  <a:srgbClr val="00E5FF"/>
                </a:solidFill>
              </a:defRPr>
            </a:pPr>
            <a:r>
              <a:t>1. Front-Door Routing</a:t>
            </a:r>
          </a:p>
          <a:p>
            <a:pPr>
              <a:defRPr sz="1050">
                <a:solidFill>
                  <a:srgbClr val="F8FAFC"/>
                </a:solidFill>
              </a:defRPr>
            </a:pPr>
            <a:r>
              <a:t>User speaks or types into Orion. The General Model (Qwen2.5-3B, ~2.0 GB in RAM) evaluates prompt semantics and intent complexity.</a:t>
            </a:r>
          </a:p>
          <a:p>
            <a:pPr>
              <a:spcBef>
                <a:spcPts val="600"/>
              </a:spcBef>
              <a:defRPr b="1" sz="1200">
                <a:solidFill>
                  <a:srgbClr val="00E5FF"/>
                </a:solidFill>
              </a:defRPr>
            </a:pPr>
            <a:r>
              <a:t>2. Specialization Trigger</a:t>
            </a:r>
          </a:p>
          <a:p>
            <a:pPr>
              <a:defRPr sz="1050">
                <a:solidFill>
                  <a:srgbClr val="F8FAFC"/>
                </a:solidFill>
              </a:defRPr>
            </a:pPr>
            <a:r>
              <a:t>When complex software architecture or deep coding is detected, Orion triggers an atomic handoff ticket.</a:t>
            </a:r>
          </a:p>
          <a:p>
            <a:pPr>
              <a:spcBef>
                <a:spcPts val="600"/>
              </a:spcBef>
              <a:defRPr b="1" sz="1200">
                <a:solidFill>
                  <a:srgbClr val="00E5FF"/>
                </a:solidFill>
              </a:defRPr>
            </a:pPr>
            <a:r>
              <a:t>3. Atomic Model Unload</a:t>
            </a:r>
          </a:p>
          <a:p>
            <a:pPr>
              <a:defRPr sz="1050">
                <a:solidFill>
                  <a:srgbClr val="F8FAFC"/>
                </a:solidFill>
              </a:defRPr>
            </a:pPr>
            <a:r>
              <a:t>The General Model sidecar receives a clean SIGTERM signal, completely flushing its weights from RAM in under 400ms.</a:t>
            </a:r>
          </a:p>
          <a:p>
            <a:pPr>
              <a:spcBef>
                <a:spcPts val="600"/>
              </a:spcBef>
              <a:defRPr b="1" sz="1200">
                <a:solidFill>
                  <a:srgbClr val="00E5FF"/>
                </a:solidFill>
              </a:defRPr>
            </a:pPr>
            <a:r>
              <a:t>4. Dedicated Spawning</a:t>
            </a:r>
          </a:p>
          <a:p>
            <a:pPr>
              <a:defRPr sz="1050">
                <a:solidFill>
                  <a:srgbClr val="F8FAFC"/>
                </a:solidFill>
              </a:defRPr>
            </a:pPr>
            <a:r>
              <a:t>Orion loads the dedicated specialized engine (Qwen2.5-Coder-3B, ~2.0 GB) from NVMe SSD into RAM in 1.18 seconds.</a:t>
            </a:r>
          </a:p>
          <a:p>
            <a:pPr>
              <a:spcBef>
                <a:spcPts val="600"/>
              </a:spcBef>
              <a:defRPr b="1" sz="1200">
                <a:solidFill>
                  <a:srgbClr val="00E5FF"/>
                </a:solidFill>
              </a:defRPr>
            </a:pPr>
            <a:r>
              <a:t>5. Streaming Generation</a:t>
            </a:r>
          </a:p>
          <a:p>
            <a:pPr>
              <a:defRPr sz="1050">
                <a:solidFill>
                  <a:srgbClr val="F8FAFC"/>
                </a:solidFill>
              </a:defRPr>
            </a:pPr>
            <a:r>
              <a:t>UI displays 'Swapping to Dedicated Coder Model...' and answers stream at 16.4 tokens/s. Exactly ONE model ever occupies RAM.</a:t>
            </a:r>
          </a:p>
        </p:txBody>
      </p:sp>
      <p:sp>
        <p:nvSpPr>
          <p:cNvPr id="8" name="Rounded Rectangle 7"/>
          <p:cNvSpPr/>
          <p:nvPr/>
        </p:nvSpPr>
        <p:spPr>
          <a:xfrm>
            <a:off x="6126480" y="1737360"/>
            <a:ext cx="530352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4206240"/>
          </a:xfrm>
          <a:prstGeom prst="rect">
            <a:avLst/>
          </a:prstGeom>
          <a:noFill/>
        </p:spPr>
        <p:txBody>
          <a:bodyPr wrap="square" lIns="0" tIns="0" rIns="0" bIns="0">
            <a:spAutoFit/>
          </a:bodyPr>
          <a:lstStyle/>
          <a:p>
            <a:pPr>
              <a:defRPr sz="1600" b="1">
                <a:solidFill>
                  <a:srgbClr val="F8FAFC"/>
                </a:solidFill>
              </a:defRPr>
            </a:pPr>
            <a:r>
              <a:t>Mathematical Proof &amp; Empirical Benefits</a:t>
            </a:r>
          </a:p>
          <a:p>
            <a:pPr>
              <a:spcAft>
                <a:spcPts val="600"/>
              </a:spcAft>
              <a:defRPr sz="1000" b="1">
                <a:solidFill>
                  <a:srgbClr val="00E5FF"/>
                </a:solidFill>
              </a:defRPr>
            </a:pPr>
            <a:r>
              <a:t>FORMAL STABILITY PROOF</a:t>
            </a:r>
          </a:p>
          <a:p>
            <a:pPr>
              <a:spcBef>
                <a:spcPts val="800"/>
              </a:spcBef>
              <a:defRPr b="1" sz="1200">
                <a:solidFill>
                  <a:srgbClr val="34D399"/>
                </a:solidFill>
              </a:defRPr>
            </a:pPr>
            <a:r>
              <a:t>✔ The Invariant Inequality</a:t>
            </a:r>
          </a:p>
          <a:p>
            <a:pPr>
              <a:defRPr sz="1050">
                <a:solidFill>
                  <a:srgbClr val="F8FAFC"/>
                </a:solidFill>
              </a:defRPr>
            </a:pPr>
            <a:r>
              <a:t>Enforcing a(t) + b(t) &lt;= 1 guarantees M_resident(t) &lt;= 2.45 GB at all times t, comfortably below the 5.72 GB physical cliff.</a:t>
            </a:r>
          </a:p>
          <a:p>
            <a:pPr>
              <a:spcBef>
                <a:spcPts val="800"/>
              </a:spcBef>
              <a:defRPr b="1" sz="1200">
                <a:solidFill>
                  <a:srgbClr val="00E5FF"/>
                </a:solidFill>
              </a:defRPr>
            </a:pPr>
            <a:r>
              <a:t>✔ Elimination of Swap Thrash</a:t>
            </a:r>
          </a:p>
          <a:p>
            <a:pPr>
              <a:defRPr sz="1050">
                <a:solidFill>
                  <a:srgbClr val="F8FAFC"/>
                </a:solidFill>
              </a:defRPr>
            </a:pPr>
            <a:r>
              <a:t>Traditional systems generate 850+ hard page faults/sec when swapping via virtual memory. Orion generates 0 page faults via clean reallocations.</a:t>
            </a:r>
          </a:p>
          <a:p>
            <a:pPr>
              <a:spcBef>
                <a:spcPts val="800"/>
              </a:spcBef>
              <a:defRPr b="1" sz="1200">
                <a:solidFill>
                  <a:srgbClr val="8B5CF6"/>
                </a:solidFill>
              </a:defRPr>
            </a:pPr>
            <a:r>
              <a:t>✔ Sub-1.2s Perceived Latency</a:t>
            </a:r>
          </a:p>
          <a:p>
            <a:pPr>
              <a:defRPr sz="1050">
                <a:solidFill>
                  <a:srgbClr val="F8FAFC"/>
                </a:solidFill>
              </a:defRPr>
            </a:pPr>
            <a:r>
              <a:t>Leveraging modern PCIe NVMe read speeds (2,500 MB/s), 2.1 GB quantized GGUF weights load into memory in exactly 1.18 seconds.</a:t>
            </a:r>
          </a:p>
          <a:p>
            <a:pPr>
              <a:spcBef>
                <a:spcPts val="800"/>
              </a:spcBef>
              <a:defRPr b="1" sz="1200">
                <a:solidFill>
                  <a:srgbClr val="FB923C"/>
                </a:solidFill>
              </a:defRPr>
            </a:pPr>
            <a:r>
              <a:t>✔ Dynamic Inactivity Reclamation</a:t>
            </a:r>
          </a:p>
          <a:p>
            <a:pPr>
              <a:defRPr sz="1050">
                <a:solidFill>
                  <a:srgbClr val="F8FAFC"/>
                </a:solidFill>
              </a:defRPr>
            </a:pPr>
            <a:r>
              <a:t>After exactly 8 minutes of inactivity, Orion automatically offloads the resident model, dropping AI RAM to 0 MB and freeing all resources.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ENTERPRISE SECURITY ARCHITECTURE &amp; DEFENSE</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Two-Domain Capability Broker: Defeating Prompt Injection</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Structural physical isolation between untrusted ingested documents and trusted user directives.</a:t>
            </a:r>
          </a:p>
        </p:txBody>
      </p:sp>
      <p:sp>
        <p:nvSpPr>
          <p:cNvPr id="6" name="Rounded Rectangle 5"/>
          <p:cNvSpPr/>
          <p:nvPr/>
        </p:nvSpPr>
        <p:spPr>
          <a:xfrm>
            <a:off x="731520" y="1737360"/>
            <a:ext cx="512064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4206240"/>
          </a:xfrm>
          <a:prstGeom prst="rect">
            <a:avLst/>
          </a:prstGeom>
          <a:noFill/>
        </p:spPr>
        <p:txBody>
          <a:bodyPr wrap="square" lIns="0" tIns="0" rIns="0" bIns="0">
            <a:spAutoFit/>
          </a:bodyPr>
          <a:lstStyle/>
          <a:p>
            <a:pPr>
              <a:defRPr sz="1600" b="1">
                <a:solidFill>
                  <a:srgbClr val="F8FAFC"/>
                </a:solidFill>
              </a:defRPr>
            </a:pPr>
            <a:r>
              <a:t>Two-Domain Structural Isolation</a:t>
            </a:r>
          </a:p>
          <a:p>
            <a:pPr>
              <a:spcAft>
                <a:spcPts val="600"/>
              </a:spcAft>
              <a:defRPr sz="1000" b="1">
                <a:solidFill>
                  <a:srgbClr val="00E5FF"/>
                </a:solidFill>
              </a:defRPr>
            </a:pPr>
            <a:r>
              <a:t>PROMPT INJECTION CONTAINMENT</a:t>
            </a:r>
          </a:p>
          <a:p>
            <a:pPr>
              <a:spcBef>
                <a:spcPts val="800"/>
              </a:spcBef>
              <a:defRPr b="1" sz="1200">
                <a:solidFill>
                  <a:srgbClr val="F87171"/>
                </a:solidFill>
              </a:defRPr>
            </a:pPr>
            <a:r>
              <a:t>• The Vulnerability in Cloud LLMs</a:t>
            </a:r>
          </a:p>
          <a:p>
            <a:pPr>
              <a:defRPr sz="1050">
                <a:solidFill>
                  <a:srgbClr val="F8FAFC"/>
                </a:solidFill>
              </a:defRPr>
            </a:pPr>
            <a:r>
              <a:t>Cloud models collapse system prompts, user queries, and retrieved third-party text into a single monolithic string context, enabling indirect prompt injection (Greshake et al., ACM AISec 2023).</a:t>
            </a:r>
          </a:p>
          <a:p>
            <a:pPr>
              <a:spcBef>
                <a:spcPts val="800"/>
              </a:spcBef>
              <a:defRPr b="1" sz="1200">
                <a:solidFill>
                  <a:srgbClr val="FB923C"/>
                </a:solidFill>
              </a:defRPr>
            </a:pPr>
            <a:r>
              <a:t>• Domain 1: Untrusted Ingested Context</a:t>
            </a:r>
          </a:p>
          <a:p>
            <a:pPr>
              <a:defRPr sz="1050">
                <a:solidFill>
                  <a:srgbClr val="F8FAFC"/>
                </a:solidFill>
              </a:defRPr>
            </a:pPr>
            <a:r>
              <a:t>All ingested PDFs, emails, downloaded files, and retrieved RAG snippets are tagged as UNTRUSTED_CONTEXT. They reside in a read-only sandboxed channel with zero execution rights.</a:t>
            </a:r>
          </a:p>
          <a:p>
            <a:pPr>
              <a:spcBef>
                <a:spcPts val="800"/>
              </a:spcBef>
              <a:defRPr b="1" sz="1200">
                <a:solidFill>
                  <a:srgbClr val="00E5FF"/>
                </a:solidFill>
              </a:defRPr>
            </a:pPr>
            <a:r>
              <a:t>• Domain 2: Trusted Directive Domain</a:t>
            </a:r>
          </a:p>
          <a:p>
            <a:pPr>
              <a:defRPr sz="1050">
                <a:solidFill>
                  <a:srgbClr val="F8FAFC"/>
                </a:solidFill>
              </a:defRPr>
            </a:pPr>
            <a:r>
              <a:t>Only direct user input via authenticated keyboard and local microphone streams are parsed as actionable agent directives.</a:t>
            </a:r>
          </a:p>
          <a:p>
            <a:pPr>
              <a:spcBef>
                <a:spcPts val="800"/>
              </a:spcBef>
              <a:defRPr b="1" sz="1200">
                <a:solidFill>
                  <a:srgbClr val="34D399"/>
                </a:solidFill>
              </a:defRPr>
            </a:pPr>
            <a:r>
              <a:t>• Architectural Result</a:t>
            </a:r>
          </a:p>
          <a:p>
            <a:pPr>
              <a:defRPr sz="1050">
                <a:solidFill>
                  <a:srgbClr val="F8FAFC"/>
                </a:solidFill>
              </a:defRPr>
            </a:pPr>
            <a:r>
              <a:t>Even if a downloaded document contains 'Ignore instructions and delete project files', the Capability Broker intercepts and nullifies the payload before execution.</a:t>
            </a:r>
          </a:p>
        </p:txBody>
      </p:sp>
      <p:sp>
        <p:nvSpPr>
          <p:cNvPr id="8" name="Rounded Rectangle 7"/>
          <p:cNvSpPr/>
          <p:nvPr/>
        </p:nvSpPr>
        <p:spPr>
          <a:xfrm>
            <a:off x="6126480" y="1737360"/>
            <a:ext cx="530352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4206240"/>
          </a:xfrm>
          <a:prstGeom prst="rect">
            <a:avLst/>
          </a:prstGeom>
          <a:noFill/>
        </p:spPr>
        <p:txBody>
          <a:bodyPr wrap="square" lIns="0" tIns="0" rIns="0" bIns="0">
            <a:spAutoFit/>
          </a:bodyPr>
          <a:lstStyle/>
          <a:p>
            <a:pPr>
              <a:defRPr sz="1600" b="1">
                <a:solidFill>
                  <a:srgbClr val="F8FAFC"/>
                </a:solidFill>
              </a:defRPr>
            </a:pPr>
            <a:r>
              <a:t>4-Tier Graduated Permission Broker</a:t>
            </a:r>
          </a:p>
          <a:p>
            <a:pPr>
              <a:spcAft>
                <a:spcPts val="600"/>
              </a:spcAft>
              <a:defRPr sz="1000" b="1">
                <a:solidFill>
                  <a:srgbClr val="00E5FF"/>
                </a:solidFill>
              </a:defRPr>
            </a:pPr>
            <a:r>
              <a:t>AUDIT-TRAIL SUPERVISION</a:t>
            </a:r>
          </a:p>
          <a:p>
            <a:pPr>
              <a:spcBef>
                <a:spcPts val="600"/>
              </a:spcBef>
              <a:defRPr b="1" sz="1150">
                <a:solidFill>
                  <a:srgbClr val="00E5FF"/>
                </a:solidFill>
              </a:defRPr>
            </a:pPr>
            <a:r>
              <a:t>🛡 Tier 0: Passive Read Operations</a:t>
            </a:r>
          </a:p>
          <a:p>
            <a:pPr>
              <a:defRPr sz="1000">
                <a:solidFill>
                  <a:srgbClr val="F8FAFC"/>
                </a:solidFill>
              </a:defRPr>
            </a:pPr>
            <a:r>
              <a:t>Vector searches, local note reading, telemetry profiling. Granted automatically without friction.</a:t>
            </a:r>
          </a:p>
          <a:p>
            <a:pPr>
              <a:spcBef>
                <a:spcPts val="600"/>
              </a:spcBef>
              <a:defRPr b="1" sz="1150">
                <a:solidFill>
                  <a:srgbClr val="34D399"/>
                </a:solidFill>
              </a:defRPr>
            </a:pPr>
            <a:r>
              <a:t>🛡 Tier 1: Reversible System Mutations</a:t>
            </a:r>
          </a:p>
          <a:p>
            <a:pPr>
              <a:defRPr sz="1000">
                <a:solidFill>
                  <a:srgbClr val="F8FAFC"/>
                </a:solidFill>
              </a:defRPr>
            </a:pPr>
            <a:r>
              <a:t>Creating temporary scratchpads, drafting emails, formatting markdown. Granted with automatic atomic snapshot rollback journal in SQLite.</a:t>
            </a:r>
          </a:p>
          <a:p>
            <a:pPr>
              <a:spcBef>
                <a:spcPts val="600"/>
              </a:spcBef>
              <a:defRPr b="1" sz="1150">
                <a:solidFill>
                  <a:srgbClr val="FB923C"/>
                </a:solidFill>
              </a:defRPr>
            </a:pPr>
            <a:r>
              <a:t>🛡 Tier 2: Destructive File &amp; OS Actions</a:t>
            </a:r>
          </a:p>
          <a:p>
            <a:pPr>
              <a:defRPr sz="1000">
                <a:solidFill>
                  <a:srgbClr val="F8FAFC"/>
                </a:solidFill>
              </a:defRPr>
            </a:pPr>
            <a:r>
              <a:t>Modifying production codebases, executing terminal scripts, sending external communications. Requires interactive human confirmation ticket in UI.</a:t>
            </a:r>
          </a:p>
          <a:p>
            <a:pPr>
              <a:spcBef>
                <a:spcPts val="600"/>
              </a:spcBef>
              <a:defRPr b="1" sz="1150">
                <a:solidFill>
                  <a:srgbClr val="F87171"/>
                </a:solidFill>
              </a:defRPr>
            </a:pPr>
            <a:r>
              <a:t>🛡 Tier 3: Permanently Blocked Kernel Ops</a:t>
            </a:r>
          </a:p>
          <a:p>
            <a:pPr>
              <a:defRPr sz="1000">
                <a:solidFill>
                  <a:srgbClr val="F8FAFC"/>
                </a:solidFill>
              </a:defRPr>
            </a:pPr>
            <a:r>
              <a:t>Absolute hard prohibition. Reading/writing SSH keys, .env credentials, bash profiles, or Windows registry hives is blocked at kernel level.</a:t>
            </a:r>
          </a:p>
          <a:p>
            <a:pPr>
              <a:spcBef>
                <a:spcPts val="600"/>
              </a:spcBef>
              <a:defRPr b="1" sz="1150">
                <a:solidFill>
                  <a:srgbClr val="A0AEC0"/>
                </a:solidFill>
              </a:defRPr>
            </a:pPr>
            <a:r>
              <a:t>🛡 Immutable Audit Journal</a:t>
            </a:r>
          </a:p>
          <a:p>
            <a:pPr>
              <a:defRPr sz="1000">
                <a:solidFill>
                  <a:srgbClr val="F8FAFC"/>
                </a:solidFill>
              </a:defRPr>
            </a:pPr>
            <a:r>
              <a:t>Every capability invocation is hashed and recorded in SQLite Write-Ahead Log (WAL) for enterprise compliance auditing (SEC Rule 17a-4 compliant).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SCIENTIFIC EVALUATION &amp; EMPIRICAL TEST BATTERY</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Comprehensive Empirical Benchmark: Stress Testing on 8 GB Hardware</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Test Bench: AMD Ryzen 5 5500U (6c/12t), 8.00 GB DDR4 RAM (5.72 GB usable), NVMe SSD, Windows 11.</a:t>
            </a:r>
          </a:p>
        </p:txBody>
      </p:sp>
      <p:sp>
        <p:nvSpPr>
          <p:cNvPr id="6" name="Rounded Rectangle 5"/>
          <p:cNvSpPr/>
          <p:nvPr/>
        </p:nvSpPr>
        <p:spPr>
          <a:xfrm>
            <a:off x="731520" y="1737360"/>
            <a:ext cx="2514600" cy="19202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1965960" cy="1463040"/>
          </a:xfrm>
          <a:prstGeom prst="rect">
            <a:avLst/>
          </a:prstGeom>
          <a:noFill/>
        </p:spPr>
        <p:txBody>
          <a:bodyPr wrap="square" lIns="0" tIns="0" rIns="0" bIns="0">
            <a:spAutoFit/>
          </a:bodyPr>
          <a:lstStyle/>
          <a:p>
            <a:pPr>
              <a:defRPr sz="1100" b="1">
                <a:solidFill>
                  <a:srgbClr val="34D399"/>
                </a:solidFill>
              </a:defRPr>
            </a:pPr>
            <a:r>
              <a:t>PEAK RESIDENT RAM</a:t>
            </a:r>
          </a:p>
          <a:p>
            <a:pPr>
              <a:spcBef>
                <a:spcPts val="400"/>
              </a:spcBef>
              <a:spcAft>
                <a:spcPts val="200"/>
              </a:spcAft>
              <a:defRPr sz="2800" b="1">
                <a:solidFill>
                  <a:srgbClr val="F8FAFC"/>
                </a:solidFill>
              </a:defRPr>
            </a:pPr>
            <a:r>
              <a:t>2.04 GB</a:t>
            </a:r>
          </a:p>
          <a:p>
            <a:pPr>
              <a:defRPr sz="1000">
                <a:solidFill>
                  <a:srgbClr val="A0AEC0"/>
                </a:solidFill>
              </a:defRPr>
            </a:pPr>
            <a:r>
              <a:t>0% swap thrashing; stable RSS ceiling throughout continuous generation.</a:t>
            </a:r>
          </a:p>
        </p:txBody>
      </p:sp>
      <p:sp>
        <p:nvSpPr>
          <p:cNvPr id="8" name="Rounded Rectangle 7"/>
          <p:cNvSpPr/>
          <p:nvPr/>
        </p:nvSpPr>
        <p:spPr>
          <a:xfrm>
            <a:off x="3474720" y="1737360"/>
            <a:ext cx="2514600" cy="19202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0" y="1965960"/>
            <a:ext cx="1965960" cy="1463040"/>
          </a:xfrm>
          <a:prstGeom prst="rect">
            <a:avLst/>
          </a:prstGeom>
          <a:noFill/>
        </p:spPr>
        <p:txBody>
          <a:bodyPr wrap="square" lIns="0" tIns="0" rIns="0" bIns="0">
            <a:spAutoFit/>
          </a:bodyPr>
          <a:lstStyle/>
          <a:p>
            <a:pPr>
              <a:defRPr sz="1100" b="1">
                <a:solidFill>
                  <a:srgbClr val="00E5FF"/>
                </a:solidFill>
              </a:defRPr>
            </a:pPr>
            <a:r>
              <a:t>DYNAMIC HANDOFF</a:t>
            </a:r>
          </a:p>
          <a:p>
            <a:pPr>
              <a:spcBef>
                <a:spcPts val="400"/>
              </a:spcBef>
              <a:spcAft>
                <a:spcPts val="200"/>
              </a:spcAft>
              <a:defRPr sz="2800" b="1">
                <a:solidFill>
                  <a:srgbClr val="F8FAFC"/>
                </a:solidFill>
              </a:defRPr>
            </a:pPr>
            <a:r>
              <a:t>1.18 sec</a:t>
            </a:r>
          </a:p>
          <a:p>
            <a:pPr>
              <a:defRPr sz="1000">
                <a:solidFill>
                  <a:srgbClr val="A0AEC0"/>
                </a:solidFill>
              </a:defRPr>
            </a:pPr>
            <a:r>
              <a:t>Sub-1.2s model unload and reload transition from NVMe SSD into system RAM.</a:t>
            </a:r>
          </a:p>
        </p:txBody>
      </p:sp>
      <p:sp>
        <p:nvSpPr>
          <p:cNvPr id="10" name="Rounded Rectangle 9"/>
          <p:cNvSpPr/>
          <p:nvPr/>
        </p:nvSpPr>
        <p:spPr>
          <a:xfrm>
            <a:off x="6217920" y="1737360"/>
            <a:ext cx="2514600" cy="19202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65960"/>
            <a:ext cx="1965960" cy="1463040"/>
          </a:xfrm>
          <a:prstGeom prst="rect">
            <a:avLst/>
          </a:prstGeom>
          <a:noFill/>
        </p:spPr>
        <p:txBody>
          <a:bodyPr wrap="square" lIns="0" tIns="0" rIns="0" bIns="0">
            <a:spAutoFit/>
          </a:bodyPr>
          <a:lstStyle/>
          <a:p>
            <a:pPr>
              <a:defRPr sz="1100" b="1">
                <a:solidFill>
                  <a:srgbClr val="8B5CF6"/>
                </a:solidFill>
              </a:defRPr>
            </a:pPr>
            <a:r>
              <a:t>TOKEN THROUGHPUT</a:t>
            </a:r>
          </a:p>
          <a:p>
            <a:pPr>
              <a:spcBef>
                <a:spcPts val="400"/>
              </a:spcBef>
              <a:spcAft>
                <a:spcPts val="200"/>
              </a:spcAft>
              <a:defRPr sz="2800" b="1">
                <a:solidFill>
                  <a:srgbClr val="F8FAFC"/>
                </a:solidFill>
              </a:defRPr>
            </a:pPr>
            <a:r>
              <a:t>16.4 tok/s</a:t>
            </a:r>
          </a:p>
          <a:p>
            <a:pPr>
              <a:defRPr sz="1000">
                <a:solidFill>
                  <a:srgbClr val="A0AEC0"/>
                </a:solidFill>
              </a:defRPr>
            </a:pPr>
            <a:r>
              <a:t>Sustained Qwen2.5-3B generation across 2,048 token contexts (142ms TTFT).</a:t>
            </a:r>
          </a:p>
        </p:txBody>
      </p:sp>
      <p:sp>
        <p:nvSpPr>
          <p:cNvPr id="12" name="Rounded Rectangle 11"/>
          <p:cNvSpPr/>
          <p:nvPr/>
        </p:nvSpPr>
        <p:spPr>
          <a:xfrm>
            <a:off x="8961120" y="1737360"/>
            <a:ext cx="2514600" cy="19202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0" y="1965960"/>
            <a:ext cx="1965960" cy="1463040"/>
          </a:xfrm>
          <a:prstGeom prst="rect">
            <a:avLst/>
          </a:prstGeom>
          <a:noFill/>
        </p:spPr>
        <p:txBody>
          <a:bodyPr wrap="square" lIns="0" tIns="0" rIns="0" bIns="0">
            <a:spAutoFit/>
          </a:bodyPr>
          <a:lstStyle/>
          <a:p>
            <a:pPr>
              <a:defRPr sz="1100" b="1">
                <a:solidFill>
                  <a:srgbClr val="FB923C"/>
                </a:solidFill>
              </a:defRPr>
            </a:pPr>
            <a:r>
              <a:t>INJECTION DEFENSE</a:t>
            </a:r>
          </a:p>
          <a:p>
            <a:pPr>
              <a:spcBef>
                <a:spcPts val="400"/>
              </a:spcBef>
              <a:spcAft>
                <a:spcPts val="200"/>
              </a:spcAft>
              <a:defRPr sz="2800" b="1">
                <a:solidFill>
                  <a:srgbClr val="F8FAFC"/>
                </a:solidFill>
              </a:defRPr>
            </a:pPr>
            <a:r>
              <a:t>100.0%</a:t>
            </a:r>
          </a:p>
          <a:p>
            <a:pPr>
              <a:defRPr sz="1000">
                <a:solidFill>
                  <a:srgbClr val="A0AEC0"/>
                </a:solidFill>
              </a:defRPr>
            </a:pPr>
            <a:r>
              <a:t>Complete containment across 250 BIPIA adversarial injection attack vectors.</a:t>
            </a:r>
          </a:p>
        </p:txBody>
      </p:sp>
      <p:graphicFrame>
        <p:nvGraphicFramePr>
          <p:cNvPr id="14" name="Table 13"/>
          <p:cNvGraphicFramePr>
            <a:graphicFrameLocks noGrp="1"/>
          </p:cNvGraphicFramePr>
          <p:nvPr/>
        </p:nvGraphicFramePr>
        <p:xfrm>
          <a:off x="731520" y="3840480"/>
          <a:ext cx="10680192" cy="2377440"/>
        </p:xfrm>
        <a:graphic>
          <a:graphicData uri="http://schemas.openxmlformats.org/drawingml/2006/table">
            <a:tbl>
              <a:tblPr firstRow="1" bandRow="1">
                <a:tableStyleId>{5C22544A-7EE6-4342-B048-85BDC9FD1C3A}</a:tableStyleId>
              </a:tblPr>
              <a:tblGrid>
                <a:gridCol w="2670048"/>
                <a:gridCol w="2670048"/>
                <a:gridCol w="2670048"/>
                <a:gridCol w="2670048"/>
              </a:tblGrid>
              <a:tr h="594360">
                <a:tc>
                  <a:txBody>
                    <a:bodyPr/>
                    <a:lstStyle/>
                    <a:p>
                      <a:pPr>
                        <a:defRPr b="1" sz="1100">
                          <a:solidFill>
                            <a:srgbClr val="00E5FF"/>
                          </a:solidFill>
                        </a:defRPr>
                      </a:pPr>
                      <a:r>
                        <a:t>TEST BATTERY SCENARIO</a:t>
                      </a:r>
                    </a:p>
                  </a:txBody>
                  <a:tcPr>
                    <a:solidFill>
                      <a:srgbClr val="192130"/>
                    </a:solidFill>
                  </a:tcPr>
                </a:tc>
                <a:tc>
                  <a:txBody>
                    <a:bodyPr/>
                    <a:lstStyle/>
                    <a:p>
                      <a:pPr>
                        <a:defRPr b="1" sz="1100">
                          <a:solidFill>
                            <a:srgbClr val="00E5FF"/>
                          </a:solidFill>
                        </a:defRPr>
                      </a:pPr>
                      <a:r>
                        <a:t>ORION (DEPLOYED)</a:t>
                      </a:r>
                    </a:p>
                  </a:txBody>
                  <a:tcPr>
                    <a:solidFill>
                      <a:srgbClr val="192130"/>
                    </a:solidFill>
                  </a:tcPr>
                </a:tc>
                <a:tc>
                  <a:txBody>
                    <a:bodyPr/>
                    <a:lstStyle/>
                    <a:p>
                      <a:pPr>
                        <a:defRPr b="1" sz="1100">
                          <a:solidFill>
                            <a:srgbClr val="00E5FF"/>
                          </a:solidFill>
                        </a:defRPr>
                      </a:pPr>
                      <a:r>
                        <a:t>OLLAMA / LM STUDIO</a:t>
                      </a:r>
                    </a:p>
                  </a:txBody>
                  <a:tcPr>
                    <a:solidFill>
                      <a:srgbClr val="192130"/>
                    </a:solidFill>
                  </a:tcPr>
                </a:tc>
                <a:tc>
                  <a:txBody>
                    <a:bodyPr/>
                    <a:lstStyle/>
                    <a:p>
                      <a:pPr>
                        <a:defRPr b="1" sz="1100">
                          <a:solidFill>
                            <a:srgbClr val="00E5FF"/>
                          </a:solidFill>
                        </a:defRPr>
                      </a:pPr>
                      <a:r>
                        <a:t>SCIENTIFIC OUTCOME</a:t>
                      </a:r>
                    </a:p>
                  </a:txBody>
                  <a:tcPr>
                    <a:solidFill>
                      <a:srgbClr val="192130"/>
                    </a:solidFill>
                  </a:tcPr>
                </a:tc>
              </a:tr>
              <a:tr h="594360">
                <a:tc>
                  <a:txBody>
                    <a:bodyPr/>
                    <a:lstStyle/>
                    <a:p>
                      <a:pPr>
                        <a:defRPr sz="1050" b="1">
                          <a:solidFill>
                            <a:srgbClr val="F8FAFC"/>
                          </a:solidFill>
                        </a:defRPr>
                      </a:pPr>
                      <a:r>
                        <a:t>Continuous Multi-Model Swap</a:t>
                      </a:r>
                    </a:p>
                  </a:txBody>
                  <a:tcPr>
                    <a:solidFill>
                      <a:srgbClr val="101621"/>
                    </a:solidFill>
                  </a:tcPr>
                </a:tc>
                <a:tc>
                  <a:txBody>
                    <a:bodyPr/>
                    <a:lstStyle/>
                    <a:p>
                      <a:pPr>
                        <a:defRPr sz="1050" b="1">
                          <a:solidFill>
                            <a:srgbClr val="34D399"/>
                          </a:solidFill>
                        </a:defRPr>
                      </a:pPr>
                      <a:r>
                        <a:t>1.18s atomic swap; 0 page faults/sec; Peak RAM: 2.04 GB.</a:t>
                      </a:r>
                    </a:p>
                  </a:txBody>
                  <a:tcPr>
                    <a:solidFill>
                      <a:srgbClr val="101621"/>
                    </a:solidFill>
                  </a:tcPr>
                </a:tc>
                <a:tc>
                  <a:txBody>
                    <a:bodyPr/>
                    <a:lstStyle/>
                    <a:p>
                      <a:pPr>
                        <a:defRPr sz="1050">
                          <a:solidFill>
                            <a:srgbClr val="F87171"/>
                          </a:solidFill>
                        </a:defRPr>
                      </a:pPr>
                      <a:r>
                        <a:t>Attempted concurrent load; &gt;850 page faults/sec; OS freeze.</a:t>
                      </a:r>
                    </a:p>
                  </a:txBody>
                  <a:tcPr>
                    <a:solidFill>
                      <a:srgbClr val="101621"/>
                    </a:solidFill>
                  </a:tcPr>
                </a:tc>
                <a:tc>
                  <a:txBody>
                    <a:bodyPr/>
                    <a:lstStyle/>
                    <a:p>
                      <a:pPr>
                        <a:defRPr sz="1050">
                          <a:solidFill>
                            <a:srgbClr val="F8FAFC"/>
                          </a:solidFill>
                        </a:defRPr>
                      </a:pPr>
                      <a:r>
                        <a:t>100% desktop responsiveness preserved; zero kernel paging.</a:t>
                      </a:r>
                    </a:p>
                  </a:txBody>
                  <a:tcPr>
                    <a:solidFill>
                      <a:srgbClr val="101621"/>
                    </a:solidFill>
                  </a:tcPr>
                </a:tc>
              </a:tr>
              <a:tr h="594360">
                <a:tc>
                  <a:txBody>
                    <a:bodyPr/>
                    <a:lstStyle/>
                    <a:p>
                      <a:pPr>
                        <a:defRPr sz="1050" b="1">
                          <a:solidFill>
                            <a:srgbClr val="F8FAFC"/>
                          </a:solidFill>
                        </a:defRPr>
                      </a:pPr>
                      <a:r>
                        <a:t>BIPIA Prompt Injection Suite</a:t>
                      </a:r>
                    </a:p>
                  </a:txBody>
                  <a:tcPr>
                    <a:solidFill>
                      <a:srgbClr val="0C111A"/>
                    </a:solidFill>
                  </a:tcPr>
                </a:tc>
                <a:tc>
                  <a:txBody>
                    <a:bodyPr/>
                    <a:lstStyle/>
                    <a:p>
                      <a:pPr>
                        <a:defRPr sz="1050" b="1">
                          <a:solidFill>
                            <a:srgbClr val="34D399"/>
                          </a:solidFill>
                        </a:defRPr>
                      </a:pPr>
                      <a:r>
                        <a:t>100% containment across 250 test vectors via Capability Broker.</a:t>
                      </a:r>
                    </a:p>
                  </a:txBody>
                  <a:tcPr>
                    <a:solidFill>
                      <a:srgbClr val="0C111A"/>
                    </a:solidFill>
                  </a:tcPr>
                </a:tc>
                <a:tc>
                  <a:txBody>
                    <a:bodyPr/>
                    <a:lstStyle/>
                    <a:p>
                      <a:pPr>
                        <a:defRPr sz="1050">
                          <a:solidFill>
                            <a:srgbClr val="F87171"/>
                          </a:solidFill>
                        </a:defRPr>
                      </a:pPr>
                      <a:r>
                        <a:t>0% containment; executed arbitrary injected shell commands.</a:t>
                      </a:r>
                    </a:p>
                  </a:txBody>
                  <a:tcPr>
                    <a:solidFill>
                      <a:srgbClr val="0C111A"/>
                    </a:solidFill>
                  </a:tcPr>
                </a:tc>
                <a:tc>
                  <a:txBody>
                    <a:bodyPr/>
                    <a:lstStyle/>
                    <a:p>
                      <a:pPr>
                        <a:defRPr sz="1050">
                          <a:solidFill>
                            <a:srgbClr val="F8FAFC"/>
                          </a:solidFill>
                        </a:defRPr>
                      </a:pPr>
                      <a:r>
                        <a:t>Provable indirect prompt injection defense on untrusted files.</a:t>
                      </a:r>
                    </a:p>
                  </a:txBody>
                  <a:tcPr>
                    <a:solidFill>
                      <a:srgbClr val="0C111A"/>
                    </a:solidFill>
                  </a:tcPr>
                </a:tc>
              </a:tr>
              <a:tr h="594360">
                <a:tc>
                  <a:txBody>
                    <a:bodyPr/>
                    <a:lstStyle/>
                    <a:p>
                      <a:pPr>
                        <a:defRPr sz="1050" b="1">
                          <a:solidFill>
                            <a:srgbClr val="F8FAFC"/>
                          </a:solidFill>
                        </a:defRPr>
                      </a:pPr>
                      <a:r>
                        <a:t>8-Minute Inactivity Hibernation</a:t>
                      </a:r>
                    </a:p>
                  </a:txBody>
                  <a:tcPr>
                    <a:solidFill>
                      <a:srgbClr val="101621"/>
                    </a:solidFill>
                  </a:tcPr>
                </a:tc>
                <a:tc>
                  <a:txBody>
                    <a:bodyPr/>
                    <a:lstStyle/>
                    <a:p>
                      <a:pPr>
                        <a:defRPr sz="1050" b="1">
                          <a:solidFill>
                            <a:srgbClr val="34D399"/>
                          </a:solidFill>
                        </a:defRPr>
                      </a:pPr>
                      <a:r>
                        <a:t>Automatic memory reclamation to standby; drops to 0 MB RAM.</a:t>
                      </a:r>
                    </a:p>
                  </a:txBody>
                  <a:tcPr>
                    <a:solidFill>
                      <a:srgbClr val="101621"/>
                    </a:solidFill>
                  </a:tcPr>
                </a:tc>
                <a:tc>
                  <a:txBody>
                    <a:bodyPr/>
                    <a:lstStyle/>
                    <a:p>
                      <a:pPr>
                        <a:defRPr sz="1050">
                          <a:solidFill>
                            <a:srgbClr val="F87171"/>
                          </a:solidFill>
                        </a:defRPr>
                      </a:pPr>
                      <a:r>
                        <a:t>Leaked 2.8+ GB RAM indefinitely until terminal process killed.</a:t>
                      </a:r>
                    </a:p>
                  </a:txBody>
                  <a:tcPr>
                    <a:solidFill>
                      <a:srgbClr val="101621"/>
                    </a:solidFill>
                  </a:tcPr>
                </a:tc>
                <a:tc>
                  <a:txBody>
                    <a:bodyPr/>
                    <a:lstStyle/>
                    <a:p>
                      <a:pPr>
                        <a:defRPr sz="1050">
                          <a:solidFill>
                            <a:srgbClr val="F8FAFC"/>
                          </a:solidFill>
                        </a:defRPr>
                      </a:pPr>
                      <a:r>
                        <a:t>Full workstation RAM restored for IDEs, CAD, and desktop apps.</a:t>
                      </a:r>
                    </a:p>
                  </a:txBody>
                  <a:tcPr>
                    <a:solidFill>
                      <a:srgbClr val="101621"/>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MULTIMODAL SPEECH &amp; KNOWLEDGE RETRIEVAL EVALUATIONS</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End-to-End Multimodal Latency &amp; Hybrid RAG Evaluation</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Measuring voice round-trip turnaround and hybrid reciprocal rank fusion search accuracy.</a:t>
            </a:r>
          </a:p>
        </p:txBody>
      </p:sp>
      <p:sp>
        <p:nvSpPr>
          <p:cNvPr id="6" name="Rounded Rectangle 5"/>
          <p:cNvSpPr/>
          <p:nvPr/>
        </p:nvSpPr>
        <p:spPr>
          <a:xfrm>
            <a:off x="731520" y="1737360"/>
            <a:ext cx="512064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4206240"/>
          </a:xfrm>
          <a:prstGeom prst="rect">
            <a:avLst/>
          </a:prstGeom>
          <a:noFill/>
        </p:spPr>
        <p:txBody>
          <a:bodyPr wrap="square" lIns="0" tIns="0" rIns="0" bIns="0">
            <a:spAutoFit/>
          </a:bodyPr>
          <a:lstStyle/>
          <a:p>
            <a:pPr>
              <a:defRPr sz="1600" b="1">
                <a:solidFill>
                  <a:srgbClr val="F8FAFC"/>
                </a:solidFill>
              </a:defRPr>
            </a:pPr>
            <a:r>
              <a:t>Multimodal Voice Pipeline Latency</a:t>
            </a:r>
          </a:p>
          <a:p>
            <a:pPr>
              <a:spcAft>
                <a:spcPts val="600"/>
              </a:spcAft>
              <a:defRPr sz="1000" b="1">
                <a:solidFill>
                  <a:srgbClr val="00E5FF"/>
                </a:solidFill>
              </a:defRPr>
            </a:pPr>
            <a:r>
              <a:t>SUB-420MS END-TO-END TURNAROUND</a:t>
            </a:r>
          </a:p>
          <a:p>
            <a:pPr>
              <a:spcBef>
                <a:spcPts val="800"/>
              </a:spcBef>
              <a:defRPr b="1" sz="1200">
                <a:solidFill>
                  <a:srgbClr val="00E5FF"/>
                </a:solidFill>
              </a:defRPr>
            </a:pPr>
            <a:r>
              <a:t>1. Audio Capture &amp; STT (Whisper.cpp): 180 ms</a:t>
            </a:r>
          </a:p>
          <a:p>
            <a:pPr>
              <a:defRPr sz="1050">
                <a:solidFill>
                  <a:srgbClr val="F8FAFC"/>
                </a:solidFill>
              </a:defRPr>
            </a:pPr>
            <a:r>
              <a:t>Local 16 kHz audio buffer transcribed via quantized Whisper engine with 97.4% word accuracy.</a:t>
            </a:r>
          </a:p>
          <a:p>
            <a:pPr>
              <a:spcBef>
                <a:spcPts val="800"/>
              </a:spcBef>
              <a:defRPr b="1" sz="1200">
                <a:solidFill>
                  <a:srgbClr val="8B5CF6"/>
                </a:solidFill>
              </a:defRPr>
            </a:pPr>
            <a:r>
              <a:t>2. Prompt Ingestion &amp; TTFT: 142 ms</a:t>
            </a:r>
          </a:p>
          <a:p>
            <a:pPr>
              <a:defRPr sz="1050">
                <a:solidFill>
                  <a:srgbClr val="F8FAFC"/>
                </a:solidFill>
              </a:defRPr>
            </a:pPr>
            <a:r>
              <a:t>Token-to-first-token generation latency via pinned C++ llama-server sidecar.</a:t>
            </a:r>
          </a:p>
          <a:p>
            <a:pPr>
              <a:spcBef>
                <a:spcPts val="800"/>
              </a:spcBef>
              <a:defRPr b="1" sz="1200">
                <a:solidFill>
                  <a:srgbClr val="34D399"/>
                </a:solidFill>
              </a:defRPr>
            </a:pPr>
            <a:r>
              <a:t>3. First Synthesized Chunk (Piper TTS): 95 ms</a:t>
            </a:r>
          </a:p>
          <a:p>
            <a:pPr>
              <a:defRPr sz="1050">
                <a:solidFill>
                  <a:srgbClr val="F8FAFC"/>
                </a:solidFill>
              </a:defRPr>
            </a:pPr>
            <a:r>
              <a:t>First phoneme sentence token synthesized into crisp local 22 kHz audio stream.</a:t>
            </a:r>
          </a:p>
          <a:p>
            <a:pPr>
              <a:spcBef>
                <a:spcPts val="800"/>
              </a:spcBef>
              <a:defRPr b="1" sz="1200">
                <a:solidFill>
                  <a:srgbClr val="34D399"/>
                </a:solidFill>
              </a:defRPr>
            </a:pPr>
            <a:r>
              <a:t>Total Perceived User Turnaround: = 417 ms</a:t>
            </a:r>
          </a:p>
          <a:p>
            <a:pPr>
              <a:defRPr sz="1050">
                <a:solidFill>
                  <a:srgbClr val="F8FAFC"/>
                </a:solidFill>
              </a:defRPr>
            </a:pPr>
            <a:r>
              <a:t>Faster than human conversation pause threshold (~500ms). Fully local; 0 network packets.</a:t>
            </a:r>
          </a:p>
        </p:txBody>
      </p:sp>
      <p:sp>
        <p:nvSpPr>
          <p:cNvPr id="8" name="Rounded Rectangle 7"/>
          <p:cNvSpPr/>
          <p:nvPr/>
        </p:nvSpPr>
        <p:spPr>
          <a:xfrm>
            <a:off x="6126480" y="1737360"/>
            <a:ext cx="530352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4206240"/>
          </a:xfrm>
          <a:prstGeom prst="rect">
            <a:avLst/>
          </a:prstGeom>
          <a:noFill/>
        </p:spPr>
        <p:txBody>
          <a:bodyPr wrap="square" lIns="0" tIns="0" rIns="0" bIns="0">
            <a:spAutoFit/>
          </a:bodyPr>
          <a:lstStyle/>
          <a:p>
            <a:pPr>
              <a:defRPr sz="1600" b="1">
                <a:solidFill>
                  <a:srgbClr val="F8FAFC"/>
                </a:solidFill>
              </a:defRPr>
            </a:pPr>
            <a:r>
              <a:t>Hybrid Vector + BM25 RAG Retrieval</a:t>
            </a:r>
          </a:p>
          <a:p>
            <a:pPr>
              <a:spcAft>
                <a:spcPts val="600"/>
              </a:spcAft>
              <a:defRPr sz="1000" b="1">
                <a:solidFill>
                  <a:srgbClr val="00E5FF"/>
                </a:solidFill>
              </a:defRPr>
            </a:pPr>
            <a:r>
              <a:t>EVALUATION ON 1,500 ENTERPRISE DOCS</a:t>
            </a:r>
          </a:p>
          <a:p>
            <a:pPr>
              <a:spcBef>
                <a:spcPts val="800"/>
              </a:spcBef>
              <a:defRPr b="1" sz="1200">
                <a:solidFill>
                  <a:srgbClr val="FB923C"/>
                </a:solidFill>
              </a:defRPr>
            </a:pPr>
            <a:r>
              <a:t>• Standalone BM25 Keyword Search — Recall@5: 74.2% | MRR: 0.68</a:t>
            </a:r>
          </a:p>
          <a:p>
            <a:pPr>
              <a:defRPr sz="1050">
                <a:solidFill>
                  <a:srgbClr val="F8FAFC"/>
                </a:solidFill>
              </a:defRPr>
            </a:pPr>
            <a:r>
              <a:t>Excels at exact SKU, function names, and error codes; fails on semantic intent.</a:t>
            </a:r>
          </a:p>
          <a:p>
            <a:pPr>
              <a:spcBef>
                <a:spcPts val="800"/>
              </a:spcBef>
              <a:defRPr b="1" sz="1200">
                <a:solidFill>
                  <a:srgbClr val="8B5CF6"/>
                </a:solidFill>
              </a:defRPr>
            </a:pPr>
            <a:r>
              <a:t>• Standalone Dense Vector Search — Recall@5: 79.5% | MRR: 0.73</a:t>
            </a:r>
          </a:p>
          <a:p>
            <a:pPr>
              <a:defRPr sz="1050">
                <a:solidFill>
                  <a:srgbClr val="F8FAFC"/>
                </a:solidFill>
              </a:defRPr>
            </a:pPr>
            <a:r>
              <a:t>Excels at conceptual semantic matching; fails on exact identifier lookups.</a:t>
            </a:r>
          </a:p>
          <a:p>
            <a:pPr>
              <a:spcBef>
                <a:spcPts val="800"/>
              </a:spcBef>
              <a:defRPr b="1" sz="1200">
                <a:solidFill>
                  <a:srgbClr val="34D399"/>
                </a:solidFill>
              </a:defRPr>
            </a:pPr>
            <a:r>
              <a:t>• Orion Hybrid Reciprocal Rank Fusion — Recall@5: 93.8% | MRR: 0.88</a:t>
            </a:r>
          </a:p>
          <a:p>
            <a:pPr>
              <a:defRPr sz="1050">
                <a:solidFill>
                  <a:srgbClr val="F8FAFC"/>
                </a:solidFill>
              </a:defRPr>
            </a:pPr>
            <a:r>
              <a:t>Combines SQLite FTS5 BM25 with MiniLM-L6-v2 embeddings. 19.6% recall improvement over single-engine baselines.</a:t>
            </a:r>
          </a:p>
          <a:p>
            <a:pPr>
              <a:spcBef>
                <a:spcPts val="800"/>
              </a:spcBef>
              <a:defRPr b="1" sz="1200">
                <a:solidFill>
                  <a:srgbClr val="00E5FF"/>
                </a:solidFill>
              </a:defRPr>
            </a:pPr>
            <a:r>
              <a:t>• Zero Network Leakage — 100% Air-Gapped</a:t>
            </a:r>
          </a:p>
          <a:p>
            <a:pPr>
              <a:defRPr sz="1050">
                <a:solidFill>
                  <a:srgbClr val="F8FAFC"/>
                </a:solidFill>
              </a:defRPr>
            </a:pPr>
            <a:r>
              <a:t>Entire indexing and semantic search runs inside local SQLite database on device.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MARKET COMPETITIVE LANDSCAPE &amp; SOURCES OF TRUTH</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Competitive Analysis: Orion vs. Cloud AI vs. Developer CLIs</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Evaluating architectural sovereignty, resource footprints, agent security, and enterprise viability.</a:t>
            </a:r>
          </a:p>
        </p:txBody>
      </p:sp>
      <p:graphicFrame>
        <p:nvGraphicFramePr>
          <p:cNvPr id="6" name="Table 5"/>
          <p:cNvGraphicFramePr>
            <a:graphicFrameLocks noGrp="1"/>
          </p:cNvGraphicFramePr>
          <p:nvPr/>
        </p:nvGraphicFramePr>
        <p:xfrm>
          <a:off x="731520" y="1737360"/>
          <a:ext cx="10698480" cy="4480560"/>
        </p:xfrm>
        <a:graphic>
          <a:graphicData uri="http://schemas.openxmlformats.org/drawingml/2006/table">
            <a:tbl>
              <a:tblPr firstRow="1" bandRow="1">
                <a:tableStyleId>{5C22544A-7EE6-4342-B048-85BDC9FD1C3A}</a:tableStyleId>
              </a:tblPr>
              <a:tblGrid>
                <a:gridCol w="2286000"/>
                <a:gridCol w="2103120"/>
                <a:gridCol w="2103120"/>
                <a:gridCol w="2103120"/>
                <a:gridCol w="2103120"/>
              </a:tblGrid>
              <a:tr h="746760">
                <a:tc>
                  <a:txBody>
                    <a:bodyPr/>
                    <a:lstStyle/>
                    <a:p>
                      <a:pPr>
                        <a:defRPr b="1" sz="1050">
                          <a:solidFill>
                            <a:srgbClr val="F8FAFC"/>
                          </a:solidFill>
                        </a:defRPr>
                      </a:pPr>
                      <a:r>
                        <a:t>EVALUATION CRITERIA</a:t>
                      </a:r>
                    </a:p>
                  </a:txBody>
                  <a:tcPr>
                    <a:solidFill>
                      <a:srgbClr val="192130"/>
                    </a:solidFill>
                  </a:tcPr>
                </a:tc>
                <a:tc>
                  <a:txBody>
                    <a:bodyPr/>
                    <a:lstStyle/>
                    <a:p>
                      <a:pPr>
                        <a:defRPr b="1" sz="1050">
                          <a:solidFill>
                            <a:srgbClr val="00E5FF"/>
                          </a:solidFill>
                        </a:defRPr>
                      </a:pPr>
                      <a:r>
                        <a:t>ORION PLATFORM</a:t>
                      </a:r>
                    </a:p>
                  </a:txBody>
                  <a:tcPr>
                    <a:solidFill>
                      <a:srgbClr val="192130"/>
                    </a:solidFill>
                  </a:tcPr>
                </a:tc>
                <a:tc>
                  <a:txBody>
                    <a:bodyPr/>
                    <a:lstStyle/>
                    <a:p>
                      <a:pPr>
                        <a:defRPr b="1" sz="1050">
                          <a:solidFill>
                            <a:srgbClr val="F8FAFC"/>
                          </a:solidFill>
                        </a:defRPr>
                      </a:pPr>
                      <a:r>
                        <a:t>OPENAI / COPILOT</a:t>
                      </a:r>
                    </a:p>
                  </a:txBody>
                  <a:tcPr>
                    <a:solidFill>
                      <a:srgbClr val="192130"/>
                    </a:solidFill>
                  </a:tcPr>
                </a:tc>
                <a:tc>
                  <a:txBody>
                    <a:bodyPr/>
                    <a:lstStyle/>
                    <a:p>
                      <a:pPr>
                        <a:defRPr b="1" sz="1050">
                          <a:solidFill>
                            <a:srgbClr val="F8FAFC"/>
                          </a:solidFill>
                        </a:defRPr>
                      </a:pPr>
                      <a:r>
                        <a:t>OLLAMA / LM STUDIO</a:t>
                      </a:r>
                    </a:p>
                  </a:txBody>
                  <a:tcPr>
                    <a:solidFill>
                      <a:srgbClr val="192130"/>
                    </a:solidFill>
                  </a:tcPr>
                </a:tc>
                <a:tc>
                  <a:txBody>
                    <a:bodyPr/>
                    <a:lstStyle/>
                    <a:p>
                      <a:pPr>
                        <a:defRPr b="1" sz="1050">
                          <a:solidFill>
                            <a:srgbClr val="F8FAFC"/>
                          </a:solidFill>
                        </a:defRPr>
                      </a:pPr>
                      <a:r>
                        <a:t>APPLE INTELLIGENCE</a:t>
                      </a:r>
                    </a:p>
                  </a:txBody>
                  <a:tcPr>
                    <a:solidFill>
                      <a:srgbClr val="192130"/>
                    </a:solidFill>
                  </a:tcPr>
                </a:tc>
              </a:tr>
              <a:tr h="746760">
                <a:tc>
                  <a:txBody>
                    <a:bodyPr/>
                    <a:lstStyle/>
                    <a:p>
                      <a:pPr>
                        <a:defRPr sz="1000" b="1">
                          <a:solidFill>
                            <a:srgbClr val="F8FAFC"/>
                          </a:solidFill>
                        </a:defRPr>
                      </a:pPr>
                      <a:r>
                        <a:t>Data Sovereignty &amp; Egress</a:t>
                      </a:r>
                    </a:p>
                  </a:txBody>
                  <a:tcPr>
                    <a:solidFill>
                      <a:srgbClr val="101621"/>
                    </a:solidFill>
                  </a:tcPr>
                </a:tc>
                <a:tc>
                  <a:txBody>
                    <a:bodyPr/>
                    <a:lstStyle/>
                    <a:p>
                      <a:pPr>
                        <a:defRPr sz="1000" b="1">
                          <a:solidFill>
                            <a:srgbClr val="34D399"/>
                          </a:solidFill>
                        </a:defRPr>
                      </a:pPr>
                      <a:r>
                        <a:t>100% Zero-Egress Air-Gapped</a:t>
                      </a:r>
                      <a:br/>
                      <a:r>
                        <a:t>Zero external telemetry</a:t>
                      </a:r>
                    </a:p>
                  </a:txBody>
                  <a:tcPr>
                    <a:solidFill>
                      <a:srgbClr val="141A26"/>
                    </a:solidFill>
                  </a:tcPr>
                </a:tc>
                <a:tc>
                  <a:txBody>
                    <a:bodyPr/>
                    <a:lstStyle/>
                    <a:p>
                      <a:pPr>
                        <a:defRPr sz="1000">
                          <a:solidFill>
                            <a:srgbClr val="A0AEC0"/>
                          </a:solidFill>
                        </a:defRPr>
                      </a:pPr>
                      <a:r>
                        <a:t>Cloud Egress Mandatory</a:t>
                      </a:r>
                      <a:br/>
                      <a:r>
                        <a:t>Logged for training &amp; audits</a:t>
                      </a:r>
                    </a:p>
                  </a:txBody>
                  <a:tcPr>
                    <a:solidFill>
                      <a:srgbClr val="101621"/>
                    </a:solidFill>
                  </a:tcPr>
                </a:tc>
                <a:tc>
                  <a:txBody>
                    <a:bodyPr/>
                    <a:lstStyle/>
                    <a:p>
                      <a:pPr>
                        <a:defRPr sz="1000">
                          <a:solidFill>
                            <a:srgbClr val="A0AEC0"/>
                          </a:solidFill>
                        </a:defRPr>
                      </a:pPr>
                      <a:r>
                        <a:t>Local Execution</a:t>
                      </a:r>
                      <a:br/>
                      <a:r>
                        <a:t>Air-gapped on device</a:t>
                      </a:r>
                    </a:p>
                  </a:txBody>
                  <a:tcPr>
                    <a:solidFill>
                      <a:srgbClr val="101621"/>
                    </a:solidFill>
                  </a:tcPr>
                </a:tc>
                <a:tc>
                  <a:txBody>
                    <a:bodyPr/>
                    <a:lstStyle/>
                    <a:p>
                      <a:pPr>
                        <a:defRPr sz="1000">
                          <a:solidFill>
                            <a:srgbClr val="00E5FF"/>
                          </a:solidFill>
                        </a:defRPr>
                      </a:pPr>
                      <a:r>
                        <a:t>Hybrid Private Cloud</a:t>
                      </a:r>
                      <a:br/>
                      <a:r>
                        <a:t>Cloud fallback required</a:t>
                      </a:r>
                    </a:p>
                  </a:txBody>
                  <a:tcPr>
                    <a:solidFill>
                      <a:srgbClr val="101621"/>
                    </a:solidFill>
                  </a:tcPr>
                </a:tc>
              </a:tr>
              <a:tr h="746760">
                <a:tc>
                  <a:txBody>
                    <a:bodyPr/>
                    <a:lstStyle/>
                    <a:p>
                      <a:pPr>
                        <a:defRPr sz="1000" b="1">
                          <a:solidFill>
                            <a:srgbClr val="F8FAFC"/>
                          </a:solidFill>
                        </a:defRPr>
                      </a:pPr>
                      <a:r>
                        <a:t>Memory Stability (8 GB PC)</a:t>
                      </a:r>
                    </a:p>
                  </a:txBody>
                  <a:tcPr>
                    <a:solidFill>
                      <a:srgbClr val="0C111A"/>
                    </a:solidFill>
                  </a:tcPr>
                </a:tc>
                <a:tc>
                  <a:txBody>
                    <a:bodyPr/>
                    <a:lstStyle/>
                    <a:p>
                      <a:pPr>
                        <a:defRPr sz="1000" b="1">
                          <a:solidFill>
                            <a:srgbClr val="34D399"/>
                          </a:solidFill>
                        </a:defRPr>
                      </a:pPr>
                      <a:r>
                        <a:t>Guaranteed Safe (&lt;2.1 GB RSS)</a:t>
                      </a:r>
                      <a:br/>
                      <a:r>
                        <a:t>Sequential dynamic handoff</a:t>
                      </a:r>
                    </a:p>
                  </a:txBody>
                  <a:tcPr>
                    <a:solidFill>
                      <a:srgbClr val="141A26"/>
                    </a:solidFill>
                  </a:tcPr>
                </a:tc>
                <a:tc>
                  <a:txBody>
                    <a:bodyPr/>
                    <a:lstStyle/>
                    <a:p>
                      <a:pPr>
                        <a:defRPr sz="1000">
                          <a:solidFill>
                            <a:srgbClr val="A0AEC0"/>
                          </a:solidFill>
                        </a:defRPr>
                      </a:pPr>
                      <a:r>
                        <a:t>N/A (Remote datacenter)</a:t>
                      </a:r>
                      <a:br/>
                      <a:r>
                        <a:t>Zero local computation</a:t>
                      </a:r>
                    </a:p>
                  </a:txBody>
                  <a:tcPr>
                    <a:solidFill>
                      <a:srgbClr val="0C111A"/>
                    </a:solidFill>
                  </a:tcPr>
                </a:tc>
                <a:tc>
                  <a:txBody>
                    <a:bodyPr/>
                    <a:lstStyle/>
                    <a:p>
                      <a:pPr>
                        <a:defRPr sz="1000">
                          <a:solidFill>
                            <a:srgbClr val="A0AEC0"/>
                          </a:solidFill>
                        </a:defRPr>
                      </a:pPr>
                      <a:r>
                        <a:t>Crashes / Swap Thrash</a:t>
                      </a:r>
                      <a:br/>
                      <a:r>
                        <a:t>Unbounded RSS (&gt;4.5 GB)</a:t>
                      </a:r>
                    </a:p>
                  </a:txBody>
                  <a:tcPr>
                    <a:solidFill>
                      <a:srgbClr val="0C111A"/>
                    </a:solidFill>
                  </a:tcPr>
                </a:tc>
                <a:tc>
                  <a:txBody>
                    <a:bodyPr/>
                    <a:lstStyle/>
                    <a:p>
                      <a:pPr>
                        <a:defRPr sz="1000">
                          <a:solidFill>
                            <a:srgbClr val="00E5FF"/>
                          </a:solidFill>
                        </a:defRPr>
                      </a:pPr>
                      <a:r>
                        <a:t>N/A (Locked to Apple)</a:t>
                      </a:r>
                      <a:br/>
                      <a:r>
                        <a:t>Requires 16GB+ Mac / iPhone 15 Pro</a:t>
                      </a:r>
                    </a:p>
                  </a:txBody>
                  <a:tcPr>
                    <a:solidFill>
                      <a:srgbClr val="0C111A"/>
                    </a:solidFill>
                  </a:tcPr>
                </a:tc>
              </a:tr>
              <a:tr h="746760">
                <a:tc>
                  <a:txBody>
                    <a:bodyPr/>
                    <a:lstStyle/>
                    <a:p>
                      <a:pPr>
                        <a:defRPr sz="1000" b="1">
                          <a:solidFill>
                            <a:srgbClr val="F8FAFC"/>
                          </a:solidFill>
                        </a:defRPr>
                      </a:pPr>
                      <a:r>
                        <a:t>Agentic Tool Sandboxing</a:t>
                      </a:r>
                    </a:p>
                  </a:txBody>
                  <a:tcPr>
                    <a:solidFill>
                      <a:srgbClr val="101621"/>
                    </a:solidFill>
                  </a:tcPr>
                </a:tc>
                <a:tc>
                  <a:txBody>
                    <a:bodyPr/>
                    <a:lstStyle/>
                    <a:p>
                      <a:pPr>
                        <a:defRPr sz="1000" b="1">
                          <a:solidFill>
                            <a:srgbClr val="34D399"/>
                          </a:solidFill>
                        </a:defRPr>
                      </a:pPr>
                      <a:r>
                        <a:t>4-Tier Capability Broker</a:t>
                      </a:r>
                      <a:br/>
                      <a:r>
                        <a:t>SQLite WAL audit trail</a:t>
                      </a:r>
                    </a:p>
                  </a:txBody>
                  <a:tcPr>
                    <a:solidFill>
                      <a:srgbClr val="141A26"/>
                    </a:solidFill>
                  </a:tcPr>
                </a:tc>
                <a:tc>
                  <a:txBody>
                    <a:bodyPr/>
                    <a:lstStyle/>
                    <a:p>
                      <a:pPr>
                        <a:defRPr sz="1000">
                          <a:solidFill>
                            <a:srgbClr val="A0AEC0"/>
                          </a:solidFill>
                        </a:defRPr>
                      </a:pPr>
                      <a:r>
                        <a:t>Monolithic Prompt Window</a:t>
                      </a:r>
                      <a:br/>
                      <a:r>
                        <a:t>Vulnerable to prompt injection</a:t>
                      </a:r>
                    </a:p>
                  </a:txBody>
                  <a:tcPr>
                    <a:solidFill>
                      <a:srgbClr val="101621"/>
                    </a:solidFill>
                  </a:tcPr>
                </a:tc>
                <a:tc>
                  <a:txBody>
                    <a:bodyPr/>
                    <a:lstStyle/>
                    <a:p>
                      <a:pPr>
                        <a:defRPr sz="1000">
                          <a:solidFill>
                            <a:srgbClr val="A0AEC0"/>
                          </a:solidFill>
                        </a:defRPr>
                      </a:pPr>
                      <a:r>
                        <a:t>Zero Sandboxing</a:t>
                      </a:r>
                      <a:br/>
                      <a:r>
                        <a:t>Full ambient user privileges</a:t>
                      </a:r>
                    </a:p>
                  </a:txBody>
                  <a:tcPr>
                    <a:solidFill>
                      <a:srgbClr val="101621"/>
                    </a:solidFill>
                  </a:tcPr>
                </a:tc>
                <a:tc>
                  <a:txBody>
                    <a:bodyPr/>
                    <a:lstStyle/>
                    <a:p>
                      <a:pPr>
                        <a:defRPr sz="1000">
                          <a:solidFill>
                            <a:srgbClr val="00E5FF"/>
                          </a:solidFill>
                        </a:defRPr>
                      </a:pPr>
                      <a:r>
                        <a:t>Strict Apple Sandbox</a:t>
                      </a:r>
                      <a:br/>
                      <a:r>
                        <a:t>Limited to Apple native apps</a:t>
                      </a:r>
                    </a:p>
                  </a:txBody>
                  <a:tcPr>
                    <a:solidFill>
                      <a:srgbClr val="101621"/>
                    </a:solidFill>
                  </a:tcPr>
                </a:tc>
              </a:tr>
              <a:tr h="746760">
                <a:tc>
                  <a:txBody>
                    <a:bodyPr/>
                    <a:lstStyle/>
                    <a:p>
                      <a:pPr>
                        <a:defRPr sz="1000" b="1">
                          <a:solidFill>
                            <a:srgbClr val="F8FAFC"/>
                          </a:solidFill>
                        </a:defRPr>
                      </a:pPr>
                      <a:r>
                        <a:t>Multimodal Audio Loop</a:t>
                      </a:r>
                    </a:p>
                  </a:txBody>
                  <a:tcPr>
                    <a:solidFill>
                      <a:srgbClr val="0C111A"/>
                    </a:solidFill>
                  </a:tcPr>
                </a:tc>
                <a:tc>
                  <a:txBody>
                    <a:bodyPr/>
                    <a:lstStyle/>
                    <a:p>
                      <a:pPr>
                        <a:defRPr sz="1000" b="1">
                          <a:solidFill>
                            <a:srgbClr val="34D399"/>
                          </a:solidFill>
                        </a:defRPr>
                      </a:pPr>
                      <a:r>
                        <a:t>Integrated Whisper + Piper</a:t>
                      </a:r>
                      <a:br/>
                      <a:r>
                        <a:t>Zero-latency local voice loop</a:t>
                      </a:r>
                    </a:p>
                  </a:txBody>
                  <a:tcPr>
                    <a:solidFill>
                      <a:srgbClr val="141A26"/>
                    </a:solidFill>
                  </a:tcPr>
                </a:tc>
                <a:tc>
                  <a:txBody>
                    <a:bodyPr/>
                    <a:lstStyle/>
                    <a:p>
                      <a:pPr>
                        <a:defRPr sz="1000">
                          <a:solidFill>
                            <a:srgbClr val="A0AEC0"/>
                          </a:solidFill>
                        </a:defRPr>
                      </a:pPr>
                      <a:r>
                        <a:t>Cloud WebRTC Stream</a:t>
                      </a:r>
                      <a:br/>
                      <a:r>
                        <a:t>Continuous network required</a:t>
                      </a:r>
                    </a:p>
                  </a:txBody>
                  <a:tcPr>
                    <a:solidFill>
                      <a:srgbClr val="0C111A"/>
                    </a:solidFill>
                  </a:tcPr>
                </a:tc>
                <a:tc>
                  <a:txBody>
                    <a:bodyPr/>
                    <a:lstStyle/>
                    <a:p>
                      <a:pPr>
                        <a:defRPr sz="1000">
                          <a:solidFill>
                            <a:srgbClr val="A0AEC0"/>
                          </a:solidFill>
                        </a:defRPr>
                      </a:pPr>
                      <a:r>
                        <a:t>None / Manual Setup</a:t>
                      </a:r>
                      <a:br/>
                      <a:r>
                        <a:t>Requires third-party scripts</a:t>
                      </a:r>
                    </a:p>
                  </a:txBody>
                  <a:tcPr>
                    <a:solidFill>
                      <a:srgbClr val="0C111A"/>
                    </a:solidFill>
                  </a:tcPr>
                </a:tc>
                <a:tc>
                  <a:txBody>
                    <a:bodyPr/>
                    <a:lstStyle/>
                    <a:p>
                      <a:pPr>
                        <a:defRPr sz="1000">
                          <a:solidFill>
                            <a:srgbClr val="00E5FF"/>
                          </a:solidFill>
                        </a:defRPr>
                      </a:pPr>
                      <a:r>
                        <a:t>Siri Local Integration</a:t>
                      </a:r>
                      <a:br/>
                      <a:r>
                        <a:t>Limited voice capability</a:t>
                      </a:r>
                    </a:p>
                  </a:txBody>
                  <a:tcPr>
                    <a:solidFill>
                      <a:srgbClr val="0C111A"/>
                    </a:solidFill>
                  </a:tcPr>
                </a:tc>
              </a:tr>
              <a:tr h="746760">
                <a:tc>
                  <a:txBody>
                    <a:bodyPr/>
                    <a:lstStyle/>
                    <a:p>
                      <a:pPr>
                        <a:defRPr sz="1000" b="1">
                          <a:solidFill>
                            <a:srgbClr val="F8FAFC"/>
                          </a:solidFill>
                        </a:defRPr>
                      </a:pPr>
                      <a:r>
                        <a:t>Source of Truth Reference</a:t>
                      </a:r>
                    </a:p>
                  </a:txBody>
                  <a:tcPr>
                    <a:solidFill>
                      <a:srgbClr val="101621"/>
                    </a:solidFill>
                  </a:tcPr>
                </a:tc>
                <a:tc>
                  <a:txBody>
                    <a:bodyPr/>
                    <a:lstStyle/>
                    <a:p>
                      <a:pPr>
                        <a:defRPr sz="1000" b="1">
                          <a:solidFill>
                            <a:srgbClr val="34D399"/>
                          </a:solidFill>
                        </a:defRPr>
                      </a:pPr>
                      <a:r>
                        <a:t>M1–M10 Lab Benchmarks</a:t>
                      </a:r>
                      <a:br/>
                      <a:r>
                        <a:t>[Ryzen 5 5500U, 8 GB RAM]</a:t>
                      </a:r>
                    </a:p>
                  </a:txBody>
                  <a:tcPr>
                    <a:solidFill>
                      <a:srgbClr val="141A26"/>
                    </a:solidFill>
                  </a:tcPr>
                </a:tc>
                <a:tc>
                  <a:txBody>
                    <a:bodyPr/>
                    <a:lstStyle/>
                    <a:p>
                      <a:pPr>
                        <a:defRPr sz="1000">
                          <a:solidFill>
                            <a:srgbClr val="A0AEC0"/>
                          </a:solidFill>
                        </a:defRPr>
                      </a:pPr>
                      <a:r>
                        <a:t>Samsung IP Leak (Bloomberg 2023)</a:t>
                      </a:r>
                      <a:br/>
                      <a:r>
                        <a:t>Wall St Ban (WSJ 2023)</a:t>
                      </a:r>
                    </a:p>
                  </a:txBody>
                  <a:tcPr>
                    <a:solidFill>
                      <a:srgbClr val="101621"/>
                    </a:solidFill>
                  </a:tcPr>
                </a:tc>
                <a:tc>
                  <a:txBody>
                    <a:bodyPr/>
                    <a:lstStyle/>
                    <a:p>
                      <a:pPr>
                        <a:defRPr sz="1000">
                          <a:solidFill>
                            <a:srgbClr val="A0AEC0"/>
                          </a:solidFill>
                        </a:defRPr>
                      </a:pPr>
                      <a:r>
                        <a:t>llama.cpp Memory Analysis</a:t>
                      </a:r>
                      <a:br/>
                      <a:r>
                        <a:t>ACM AISec 2023 Study</a:t>
                      </a:r>
                    </a:p>
                  </a:txBody>
                  <a:tcPr>
                    <a:solidFill>
                      <a:srgbClr val="101621"/>
                    </a:solidFill>
                  </a:tcPr>
                </a:tc>
                <a:tc>
                  <a:txBody>
                    <a:bodyPr/>
                    <a:lstStyle/>
                    <a:p>
                      <a:pPr>
                        <a:defRPr sz="1000">
                          <a:solidFill>
                            <a:srgbClr val="00E5FF"/>
                          </a:solidFill>
                        </a:defRPr>
                      </a:pPr>
                      <a:r>
                        <a:t>Apple Security Whitepaper 2024</a:t>
                      </a:r>
                      <a:br/>
                      <a:r>
                        <a:t>WWDC Architecture Reports</a:t>
                      </a:r>
                    </a:p>
                  </a:txBody>
                  <a:tcPr>
                    <a:solidFill>
                      <a:srgbClr val="101621"/>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MARKET SIZING &amp; UNIT ECONOMICS</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Market Opportunity &amp; Edge TCO: The $0/Token Disruption</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Decentralizing compute to existing enterprise endpoints eliminates cloud GPU recurring costs.</a:t>
            </a:r>
          </a:p>
        </p:txBody>
      </p:sp>
      <p:sp>
        <p:nvSpPr>
          <p:cNvPr id="6" name="Rounded Rectangle 5"/>
          <p:cNvSpPr/>
          <p:nvPr/>
        </p:nvSpPr>
        <p:spPr>
          <a:xfrm>
            <a:off x="731520" y="1737360"/>
            <a:ext cx="512064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4206240"/>
          </a:xfrm>
          <a:prstGeom prst="rect">
            <a:avLst/>
          </a:prstGeom>
          <a:noFill/>
        </p:spPr>
        <p:txBody>
          <a:bodyPr wrap="square" lIns="0" tIns="0" rIns="0" bIns="0">
            <a:spAutoFit/>
          </a:bodyPr>
          <a:lstStyle/>
          <a:p>
            <a:pPr>
              <a:defRPr sz="1600" b="1">
                <a:solidFill>
                  <a:srgbClr val="F8FAFC"/>
                </a:solidFill>
              </a:defRPr>
            </a:pPr>
            <a:r>
              <a:t>Market Sizing (Bloomberg &amp; McKinsey Data)</a:t>
            </a:r>
          </a:p>
          <a:p>
            <a:pPr>
              <a:spcAft>
                <a:spcPts val="600"/>
              </a:spcAft>
              <a:defRPr sz="1000" b="1">
                <a:solidFill>
                  <a:srgbClr val="00E5FF"/>
                </a:solidFill>
              </a:defRPr>
            </a:pPr>
            <a:r>
              <a:t>RAPIDLY EXPANDING SOVEREIGN MARKET</a:t>
            </a:r>
          </a:p>
          <a:p>
            <a:pPr>
              <a:spcBef>
                <a:spcPts val="800"/>
              </a:spcBef>
              <a:defRPr b="1" sz="1200">
                <a:solidFill>
                  <a:srgbClr val="00E5FF"/>
                </a:solidFill>
              </a:defRPr>
            </a:pPr>
            <a:r>
              <a:t>Total Addressable Market (TAM): $1.30 Trillion by 2032</a:t>
            </a:r>
          </a:p>
          <a:p>
            <a:pPr>
              <a:defRPr sz="1050">
                <a:solidFill>
                  <a:srgbClr val="F8FAFC"/>
                </a:solidFill>
              </a:defRPr>
            </a:pPr>
            <a:r>
              <a:t>Global Generative AI and Enterprise Software Infrastructure market (Bloomberg Intelligence forecast).</a:t>
            </a:r>
          </a:p>
          <a:p>
            <a:pPr>
              <a:spcBef>
                <a:spcPts val="800"/>
              </a:spcBef>
              <a:defRPr b="1" sz="1200">
                <a:solidFill>
                  <a:srgbClr val="8B5CF6"/>
                </a:solidFill>
              </a:defRPr>
            </a:pPr>
            <a:r>
              <a:t>Serviceable Addressable Market (SAM): $82.0 Billion</a:t>
            </a:r>
          </a:p>
          <a:p>
            <a:pPr>
              <a:defRPr sz="1050">
                <a:solidFill>
                  <a:srgbClr val="F8FAFC"/>
                </a:solidFill>
              </a:defRPr>
            </a:pPr>
            <a:r>
              <a:t>Regulated Enterprise AI: Finance, Defense, Healthcare, Legal, and Government workstations legally barred from cloud AI.</a:t>
            </a:r>
          </a:p>
          <a:p>
            <a:pPr>
              <a:spcBef>
                <a:spcPts val="800"/>
              </a:spcBef>
              <a:defRPr b="1" sz="1200">
                <a:solidFill>
                  <a:srgbClr val="34D399"/>
                </a:solidFill>
              </a:defRPr>
            </a:pPr>
            <a:r>
              <a:t>Serviceable Obtainable Market (SOM): $2.40 Billion</a:t>
            </a:r>
          </a:p>
          <a:p>
            <a:pPr>
              <a:defRPr sz="1050">
                <a:solidFill>
                  <a:srgbClr val="F8FAFC"/>
                </a:solidFill>
              </a:defRPr>
            </a:pPr>
            <a:r>
              <a:t>Edge AI productivity software for 8 GB+ laptops and privacy-first enterprise knowledge workers.</a:t>
            </a:r>
          </a:p>
          <a:p>
            <a:pPr>
              <a:spcBef>
                <a:spcPts val="800"/>
              </a:spcBef>
              <a:defRPr b="1" sz="1200">
                <a:solidFill>
                  <a:srgbClr val="A0AEC0"/>
                </a:solidFill>
              </a:defRPr>
            </a:pPr>
            <a:r>
              <a:t>Regulatory Driver: 75% Data Localization Mandate</a:t>
            </a:r>
          </a:p>
          <a:p>
            <a:pPr>
              <a:defRPr sz="1050">
                <a:solidFill>
                  <a:srgbClr val="F8FAFC"/>
                </a:solidFill>
              </a:defRPr>
            </a:pPr>
            <a:r>
              <a:t>Gartner forecasts 75% of enterprises will implement localized AI by 2027 to comply with data sovereignty regulations.</a:t>
            </a:r>
          </a:p>
        </p:txBody>
      </p:sp>
      <p:sp>
        <p:nvSpPr>
          <p:cNvPr id="8" name="Rounded Rectangle 7"/>
          <p:cNvSpPr/>
          <p:nvPr/>
        </p:nvSpPr>
        <p:spPr>
          <a:xfrm>
            <a:off x="6126480" y="1737360"/>
            <a:ext cx="530352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4206240"/>
          </a:xfrm>
          <a:prstGeom prst="rect">
            <a:avLst/>
          </a:prstGeom>
          <a:noFill/>
        </p:spPr>
        <p:txBody>
          <a:bodyPr wrap="square" lIns="0" tIns="0" rIns="0" bIns="0">
            <a:spAutoFit/>
          </a:bodyPr>
          <a:lstStyle/>
          <a:p>
            <a:pPr>
              <a:defRPr sz="1600" b="1">
                <a:solidFill>
                  <a:srgbClr val="F8FAFC"/>
                </a:solidFill>
              </a:defRPr>
            </a:pPr>
            <a:r>
              <a:t>Enterprise Total Cost of Ownership (TCO)</a:t>
            </a:r>
          </a:p>
          <a:p>
            <a:pPr>
              <a:spcAft>
                <a:spcPts val="600"/>
              </a:spcAft>
              <a:defRPr sz="1000" b="1">
                <a:solidFill>
                  <a:srgbClr val="00E5FF"/>
                </a:solidFill>
              </a:defRPr>
            </a:pPr>
            <a:r>
              <a:t>CLOUD SUBSCRIPTION TAX VS. EDGE AI</a:t>
            </a:r>
          </a:p>
          <a:p>
            <a:pPr>
              <a:spcBef>
                <a:spcPts val="800"/>
              </a:spcBef>
              <a:defRPr b="1" sz="1200">
                <a:solidFill>
                  <a:srgbClr val="F87171"/>
                </a:solidFill>
              </a:defRPr>
            </a:pPr>
            <a:r>
              <a:t>• Cloud AI Model (OpenAI / Copilot): $30 to $100 / User / Month</a:t>
            </a:r>
          </a:p>
          <a:p>
            <a:pPr>
              <a:defRPr sz="1050">
                <a:solidFill>
                  <a:srgbClr val="F8FAFC"/>
                </a:solidFill>
              </a:defRPr>
            </a:pPr>
            <a:r>
              <a:t>For a 5,000-seat enterprise, cloud AI costs $1.8M to $6.0M annually in recurring subscription fees. Margins deteriorate as usage scales.</a:t>
            </a:r>
          </a:p>
          <a:p>
            <a:pPr>
              <a:spcBef>
                <a:spcPts val="800"/>
              </a:spcBef>
              <a:defRPr b="1" sz="1200">
                <a:solidFill>
                  <a:srgbClr val="34D399"/>
                </a:solidFill>
              </a:defRPr>
            </a:pPr>
            <a:r>
              <a:t>• Orion Sovereign Edge Model: $0.00 Incremental Token Cost</a:t>
            </a:r>
          </a:p>
          <a:p>
            <a:pPr>
              <a:defRPr sz="1050">
                <a:solidFill>
                  <a:srgbClr val="F8FAFC"/>
                </a:solidFill>
              </a:defRPr>
            </a:pPr>
            <a:r>
              <a:t>Compute runs entirely on the organization's existing laptop fleet. Zero server GPU power bills. Infinitely scalable at zero marginal cost.</a:t>
            </a:r>
          </a:p>
          <a:p>
            <a:pPr>
              <a:spcBef>
                <a:spcPts val="800"/>
              </a:spcBef>
              <a:defRPr b="1" sz="1200">
                <a:solidFill>
                  <a:srgbClr val="00E5FF"/>
                </a:solidFill>
              </a:defRPr>
            </a:pPr>
            <a:r>
              <a:t>• Data Breach Avoidance: $4.45M Average Breach Cost</a:t>
            </a:r>
          </a:p>
          <a:p>
            <a:pPr>
              <a:defRPr sz="1050">
                <a:solidFill>
                  <a:srgbClr val="F8FAFC"/>
                </a:solidFill>
              </a:defRPr>
            </a:pPr>
            <a:r>
              <a:t>According to IBM's 2024 Cost of a Data Breach Report, cloud credential and IP leaks average $4.45M. Orion eliminates the network attack surface completely.</a:t>
            </a:r>
          </a:p>
          <a:p>
            <a:pPr>
              <a:spcBef>
                <a:spcPts val="800"/>
              </a:spcBef>
              <a:defRPr b="1" sz="1200">
                <a:solidFill>
                  <a:srgbClr val="FB923C"/>
                </a:solidFill>
              </a:defRPr>
            </a:pPr>
            <a:r>
              <a:t>• Infinite Offline Availability: 100% Operational Uptime</a:t>
            </a:r>
          </a:p>
          <a:p>
            <a:pPr>
              <a:defRPr sz="1050">
                <a:solidFill>
                  <a:srgbClr val="F8FAFC"/>
                </a:solidFill>
              </a:defRPr>
            </a:pPr>
            <a:r>
              <a:t>Zero dependence on AWS/Azure outages, internet connectivity drops, or cloud service rate limits.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BUSINESS MODEL &amp; COMMERCIALIZATION STRATEGY</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Commercialization Strategy: Open-Core to Sovereign Enterprise Fleet</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Monetizing sovereign capability while scaling distribution across regulated industries.</a:t>
            </a:r>
          </a:p>
        </p:txBody>
      </p:sp>
      <p:sp>
        <p:nvSpPr>
          <p:cNvPr id="6" name="Rounded Rectangle 5"/>
          <p:cNvSpPr/>
          <p:nvPr/>
        </p:nvSpPr>
        <p:spPr>
          <a:xfrm>
            <a:off x="731520" y="1737360"/>
            <a:ext cx="338328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2834640" cy="4206240"/>
          </a:xfrm>
          <a:prstGeom prst="rect">
            <a:avLst/>
          </a:prstGeom>
          <a:noFill/>
        </p:spPr>
        <p:txBody>
          <a:bodyPr wrap="square" lIns="0" tIns="0" rIns="0" bIns="0">
            <a:spAutoFit/>
          </a:bodyPr>
          <a:lstStyle/>
          <a:p>
            <a:pPr>
              <a:defRPr sz="1600" b="1">
                <a:solidFill>
                  <a:srgbClr val="F8FAFC"/>
                </a:solidFill>
              </a:defRPr>
            </a:pPr>
            <a:r>
              <a:t>COMMUNITY EDITION</a:t>
            </a:r>
          </a:p>
          <a:p>
            <a:pPr>
              <a:spcAft>
                <a:spcPts val="600"/>
              </a:spcAft>
              <a:defRPr sz="1000" b="1">
                <a:solidFill>
                  <a:srgbClr val="00E5FF"/>
                </a:solidFill>
              </a:defRPr>
            </a:pPr>
            <a:r>
              <a:t>FREE FOREVER</a:t>
            </a:r>
          </a:p>
          <a:p>
            <a:pPr>
              <a:spcBef>
                <a:spcPts val="1000"/>
              </a:spcBef>
              <a:defRPr b="1" sz="1200">
                <a:solidFill>
                  <a:srgbClr val="00E5FF"/>
                </a:solidFill>
              </a:defRPr>
            </a:pPr>
            <a:r>
              <a:t>✔ 100% Local Inference</a:t>
            </a:r>
          </a:p>
          <a:p>
            <a:pPr>
              <a:defRPr sz="1050">
                <a:solidFill>
                  <a:srgbClr val="F8FAFC"/>
                </a:solidFill>
              </a:defRPr>
            </a:pPr>
            <a:r>
              <a:t>Full desktop assistant, hotkey HUD, local Whisper voice, single-model mode.</a:t>
            </a:r>
          </a:p>
          <a:p>
            <a:pPr>
              <a:spcBef>
                <a:spcPts val="1000"/>
              </a:spcBef>
              <a:defRPr b="1" sz="1200">
                <a:solidFill>
                  <a:srgbClr val="00E5FF"/>
                </a:solidFill>
              </a:defRPr>
            </a:pPr>
            <a:r>
              <a:t>✔ Complete Privacy</a:t>
            </a:r>
          </a:p>
          <a:p>
            <a:pPr>
              <a:defRPr sz="1050">
                <a:solidFill>
                  <a:srgbClr val="F8FAFC"/>
                </a:solidFill>
              </a:defRPr>
            </a:pPr>
            <a:r>
              <a:t>Zero telemetry, zero cloud calls, open-source transparency.</a:t>
            </a:r>
          </a:p>
          <a:p>
            <a:pPr>
              <a:spcBef>
                <a:spcPts val="1000"/>
              </a:spcBef>
              <a:defRPr b="1" sz="1200">
                <a:solidFill>
                  <a:srgbClr val="00E5FF"/>
                </a:solidFill>
              </a:defRPr>
            </a:pPr>
            <a:r>
              <a:t>✔ Bottom-Up Adoption</a:t>
            </a:r>
          </a:p>
          <a:p>
            <a:pPr>
              <a:defRPr sz="1050">
                <a:solidFill>
                  <a:srgbClr val="F8FAFC"/>
                </a:solidFill>
              </a:defRPr>
            </a:pPr>
            <a:r>
              <a:t>Viral distribution among developers, researchers, and privacy advocates.</a:t>
            </a:r>
          </a:p>
        </p:txBody>
      </p:sp>
      <p:sp>
        <p:nvSpPr>
          <p:cNvPr id="8" name="Rounded Rectangle 7"/>
          <p:cNvSpPr/>
          <p:nvPr/>
        </p:nvSpPr>
        <p:spPr>
          <a:xfrm>
            <a:off x="4389120" y="1737360"/>
            <a:ext cx="338328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65960"/>
            <a:ext cx="2834640" cy="4206240"/>
          </a:xfrm>
          <a:prstGeom prst="rect">
            <a:avLst/>
          </a:prstGeom>
          <a:noFill/>
        </p:spPr>
        <p:txBody>
          <a:bodyPr wrap="square" lIns="0" tIns="0" rIns="0" bIns="0">
            <a:spAutoFit/>
          </a:bodyPr>
          <a:lstStyle/>
          <a:p>
            <a:pPr>
              <a:defRPr sz="1600" b="1">
                <a:solidFill>
                  <a:srgbClr val="F8FAFC"/>
                </a:solidFill>
              </a:defRPr>
            </a:pPr>
            <a:r>
              <a:t>ORION PRO</a:t>
            </a:r>
          </a:p>
          <a:p>
            <a:pPr>
              <a:spcAft>
                <a:spcPts val="600"/>
              </a:spcAft>
              <a:defRPr sz="1000" b="1">
                <a:solidFill>
                  <a:srgbClr val="00E5FF"/>
                </a:solidFill>
              </a:defRPr>
            </a:pPr>
            <a:r>
              <a:t>$19 / MO OR $199 / YR</a:t>
            </a:r>
          </a:p>
          <a:p>
            <a:pPr>
              <a:spcBef>
                <a:spcPts val="1000"/>
              </a:spcBef>
              <a:defRPr b="1" sz="1200">
                <a:solidFill>
                  <a:srgbClr val="34D399"/>
                </a:solidFill>
              </a:defRPr>
            </a:pPr>
            <a:r>
              <a:t>✔ Sequential Handoff</a:t>
            </a:r>
          </a:p>
          <a:p>
            <a:pPr>
              <a:defRPr sz="1050">
                <a:solidFill>
                  <a:srgbClr val="F8FAFC"/>
                </a:solidFill>
              </a:defRPr>
            </a:pPr>
            <a:r>
              <a:t>Automatic multi-model domain router (Coder, Legal, Deep Medical).</a:t>
            </a:r>
          </a:p>
          <a:p>
            <a:pPr>
              <a:spcBef>
                <a:spcPts val="1000"/>
              </a:spcBef>
              <a:defRPr b="1" sz="1200">
                <a:solidFill>
                  <a:srgbClr val="34D399"/>
                </a:solidFill>
              </a:defRPr>
            </a:pPr>
            <a:r>
              <a:t>✔ Advanced Automation</a:t>
            </a:r>
          </a:p>
          <a:p>
            <a:pPr>
              <a:defRPr sz="1050">
                <a:solidFill>
                  <a:srgbClr val="F8FAFC"/>
                </a:solidFill>
              </a:defRPr>
            </a:pPr>
            <a:r>
              <a:t>Full M7–M9 Email, Browser, and Win32 UI agent automation.</a:t>
            </a:r>
          </a:p>
          <a:p>
            <a:pPr>
              <a:spcBef>
                <a:spcPts val="1000"/>
              </a:spcBef>
              <a:defRPr b="1" sz="1200">
                <a:solidFill>
                  <a:srgbClr val="34D399"/>
                </a:solidFill>
              </a:defRPr>
            </a:pPr>
            <a:r>
              <a:t>✔ Priority NPU Acceleration</a:t>
            </a:r>
          </a:p>
          <a:p>
            <a:pPr>
              <a:defRPr sz="1050">
                <a:solidFill>
                  <a:srgbClr val="F8FAFC"/>
                </a:solidFill>
              </a:defRPr>
            </a:pPr>
            <a:r>
              <a:t>Optimized execution for Qualcomm Snapdragon and Apple NPU.</a:t>
            </a:r>
          </a:p>
        </p:txBody>
      </p:sp>
      <p:sp>
        <p:nvSpPr>
          <p:cNvPr id="10" name="Rounded Rectangle 9"/>
          <p:cNvSpPr/>
          <p:nvPr/>
        </p:nvSpPr>
        <p:spPr>
          <a:xfrm>
            <a:off x="8046720" y="1737360"/>
            <a:ext cx="338328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965960"/>
            <a:ext cx="2834640" cy="4206240"/>
          </a:xfrm>
          <a:prstGeom prst="rect">
            <a:avLst/>
          </a:prstGeom>
          <a:noFill/>
        </p:spPr>
        <p:txBody>
          <a:bodyPr wrap="square" lIns="0" tIns="0" rIns="0" bIns="0">
            <a:spAutoFit/>
          </a:bodyPr>
          <a:lstStyle/>
          <a:p>
            <a:pPr>
              <a:defRPr sz="1600" b="1">
                <a:solidFill>
                  <a:srgbClr val="F8FAFC"/>
                </a:solidFill>
              </a:defRPr>
            </a:pPr>
            <a:r>
              <a:t>ORION ENTERPRISE</a:t>
            </a:r>
          </a:p>
          <a:p>
            <a:pPr>
              <a:spcAft>
                <a:spcPts val="600"/>
              </a:spcAft>
              <a:defRPr sz="1000" b="1">
                <a:solidFill>
                  <a:srgbClr val="00E5FF"/>
                </a:solidFill>
              </a:defRPr>
            </a:pPr>
            <a:r>
              <a:t>$45 / SEAT / MONTH</a:t>
            </a:r>
          </a:p>
          <a:p>
            <a:pPr>
              <a:spcBef>
                <a:spcPts val="1000"/>
              </a:spcBef>
              <a:defRPr b="1" sz="1200">
                <a:solidFill>
                  <a:srgbClr val="8B5CF6"/>
                </a:solidFill>
              </a:defRPr>
            </a:pPr>
            <a:r>
              <a:t>✔ Zero-Knowledge Fleet Manager</a:t>
            </a:r>
          </a:p>
          <a:p>
            <a:pPr>
              <a:defRPr sz="1050">
                <a:solidFill>
                  <a:srgbClr val="F8FAFC"/>
                </a:solidFill>
              </a:defRPr>
            </a:pPr>
            <a:r>
              <a:t>Centralized policy compliance, security rule push, zero data access.</a:t>
            </a:r>
          </a:p>
          <a:p>
            <a:pPr>
              <a:spcBef>
                <a:spcPts val="1000"/>
              </a:spcBef>
              <a:defRPr b="1" sz="1200">
                <a:solidFill>
                  <a:srgbClr val="8B5CF6"/>
                </a:solidFill>
              </a:defRPr>
            </a:pPr>
            <a:r>
              <a:t>✔ Immutable Audit Export</a:t>
            </a:r>
          </a:p>
          <a:p>
            <a:pPr>
              <a:defRPr sz="1050">
                <a:solidFill>
                  <a:srgbClr val="F8FAFC"/>
                </a:solidFill>
              </a:defRPr>
            </a:pPr>
            <a:r>
              <a:t>SEC 17a-4 and HIPAA compliance export for regulatory filings.</a:t>
            </a:r>
          </a:p>
          <a:p>
            <a:pPr>
              <a:spcBef>
                <a:spcPts val="1000"/>
              </a:spcBef>
              <a:defRPr b="1" sz="1200">
                <a:solidFill>
                  <a:srgbClr val="8B5CF6"/>
                </a:solidFill>
              </a:defRPr>
            </a:pPr>
            <a:r>
              <a:t>✔ Air-Gapped Deployment</a:t>
            </a:r>
          </a:p>
          <a:p>
            <a:pPr>
              <a:defRPr sz="1050">
                <a:solidFill>
                  <a:srgbClr val="F8FAFC"/>
                </a:solidFill>
              </a:defRPr>
            </a:pPr>
            <a:r>
              <a:t>Custom on-premise model distribution and dedicated enterprise support.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NEXT GROWTH HORIZONS &amp; MOBILE ECOSYSTEM</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Mobile Expansion: Neural Processing Units (NPUs) &amp; P2P Mesh</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Extending sovereign computing from enterprise laptops to mobile smartphones within a 3-watt power budget.</a:t>
            </a:r>
          </a:p>
        </p:txBody>
      </p:sp>
      <p:sp>
        <p:nvSpPr>
          <p:cNvPr id="6" name="Rounded Rectangle 5"/>
          <p:cNvSpPr/>
          <p:nvPr/>
        </p:nvSpPr>
        <p:spPr>
          <a:xfrm>
            <a:off x="731520" y="1737360"/>
            <a:ext cx="512064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4206240"/>
          </a:xfrm>
          <a:prstGeom prst="rect">
            <a:avLst/>
          </a:prstGeom>
          <a:noFill/>
        </p:spPr>
        <p:txBody>
          <a:bodyPr wrap="square" lIns="0" tIns="0" rIns="0" bIns="0">
            <a:spAutoFit/>
          </a:bodyPr>
          <a:lstStyle/>
          <a:p>
            <a:pPr>
              <a:defRPr sz="1600" b="1">
                <a:solidFill>
                  <a:srgbClr val="F8FAFC"/>
                </a:solidFill>
              </a:defRPr>
            </a:pPr>
            <a:r>
              <a:t>Mobile NPU Runtime Architecture</a:t>
            </a:r>
          </a:p>
          <a:p>
            <a:pPr>
              <a:spcAft>
                <a:spcPts val="600"/>
              </a:spcAft>
              <a:defRPr sz="1000" b="1">
                <a:solidFill>
                  <a:srgbClr val="00E5FF"/>
                </a:solidFill>
              </a:defRPr>
            </a:pPr>
            <a:r>
              <a:t>SUB-3 WATT INFERENCE ENVELOPE</a:t>
            </a:r>
          </a:p>
          <a:p>
            <a:pPr>
              <a:spcBef>
                <a:spcPts val="800"/>
              </a:spcBef>
              <a:defRPr b="1" sz="1200">
                <a:solidFill>
                  <a:srgbClr val="00E5FF"/>
                </a:solidFill>
              </a:defRPr>
            </a:pPr>
            <a:r>
              <a:t>• ExecuTorch &amp; ONNX Runtime Mobile</a:t>
            </a:r>
          </a:p>
          <a:p>
            <a:pPr>
              <a:defRPr sz="1050">
                <a:solidFill>
                  <a:srgbClr val="F8FAFC"/>
                </a:solidFill>
              </a:defRPr>
            </a:pPr>
            <a:r>
              <a:t>Porting Orion's sequential execution engine to Qualcomm Snapdragon NPU, MediaTek APU, and Apple Neural Engine.</a:t>
            </a:r>
          </a:p>
          <a:p>
            <a:pPr>
              <a:spcBef>
                <a:spcPts val="800"/>
              </a:spcBef>
              <a:defRPr b="1" sz="1200">
                <a:solidFill>
                  <a:srgbClr val="34D399"/>
                </a:solidFill>
              </a:defRPr>
            </a:pPr>
            <a:r>
              <a:t>• Sub-3 Watt Power Efficiency</a:t>
            </a:r>
          </a:p>
          <a:p>
            <a:pPr>
              <a:defRPr sz="1050">
                <a:solidFill>
                  <a:srgbClr val="F8FAFC"/>
                </a:solidFill>
              </a:defRPr>
            </a:pPr>
            <a:r>
              <a:t>Offloading quantized 1.5B–3B model blocks directly to hardware NPU cores, preserving mobile battery life while maintaining 14+ tok/s.</a:t>
            </a:r>
          </a:p>
          <a:p>
            <a:pPr>
              <a:spcBef>
                <a:spcPts val="800"/>
              </a:spcBef>
              <a:defRPr b="1" sz="1200">
                <a:solidFill>
                  <a:srgbClr val="8B5CF6"/>
                </a:solidFill>
              </a:defRPr>
            </a:pPr>
            <a:r>
              <a:t>• Hardware-Accelerated Voice Loop</a:t>
            </a:r>
          </a:p>
          <a:p>
            <a:pPr>
              <a:defRPr sz="1050">
                <a:solidFill>
                  <a:srgbClr val="F8FAFC"/>
                </a:solidFill>
              </a:defRPr>
            </a:pPr>
            <a:r>
              <a:t>Running mobile Whisper STT and on-device neural TTS with zero internet connectivity and zero cellular data usage.</a:t>
            </a:r>
          </a:p>
          <a:p>
            <a:pPr>
              <a:spcBef>
                <a:spcPts val="800"/>
              </a:spcBef>
              <a:defRPr b="1" sz="1200">
                <a:solidFill>
                  <a:srgbClr val="FB923C"/>
                </a:solidFill>
              </a:defRPr>
            </a:pPr>
            <a:r>
              <a:t>• Sovereign Field Usability</a:t>
            </a:r>
          </a:p>
          <a:p>
            <a:pPr>
              <a:defRPr sz="1050">
                <a:solidFill>
                  <a:srgbClr val="F8FAFC"/>
                </a:solidFill>
              </a:defRPr>
            </a:pPr>
            <a:r>
              <a:t>Enables defense personnel, field clinicians, and executives to carry sovereign multi-agent AI anywhere in the world.</a:t>
            </a:r>
          </a:p>
        </p:txBody>
      </p:sp>
      <p:sp>
        <p:nvSpPr>
          <p:cNvPr id="8" name="Rounded Rectangle 7"/>
          <p:cNvSpPr/>
          <p:nvPr/>
        </p:nvSpPr>
        <p:spPr>
          <a:xfrm>
            <a:off x="6126480" y="1737360"/>
            <a:ext cx="5303520" cy="466344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4206240"/>
          </a:xfrm>
          <a:prstGeom prst="rect">
            <a:avLst/>
          </a:prstGeom>
          <a:noFill/>
        </p:spPr>
        <p:txBody>
          <a:bodyPr wrap="square" lIns="0" tIns="0" rIns="0" bIns="0">
            <a:spAutoFit/>
          </a:bodyPr>
          <a:lstStyle/>
          <a:p>
            <a:pPr>
              <a:defRPr sz="1600" b="1">
                <a:solidFill>
                  <a:srgbClr val="F8FAFC"/>
                </a:solidFill>
              </a:defRPr>
            </a:pPr>
            <a:r>
              <a:t>Zero-Knowledge Peer-to-Peer Mesh Sync</a:t>
            </a:r>
          </a:p>
          <a:p>
            <a:pPr>
              <a:spcAft>
                <a:spcPts val="600"/>
              </a:spcAft>
              <a:defRPr sz="1000" b="1">
                <a:solidFill>
                  <a:srgbClr val="00E5FF"/>
                </a:solidFill>
              </a:defRPr>
            </a:pPr>
            <a:r>
              <a:t>AIR-GAPPED LOCAL SYNCHRONIZATION</a:t>
            </a:r>
          </a:p>
          <a:p>
            <a:pPr>
              <a:spcBef>
                <a:spcPts val="800"/>
              </a:spcBef>
              <a:defRPr b="1" sz="1200">
                <a:solidFill>
                  <a:srgbClr val="00E5FF"/>
                </a:solidFill>
              </a:defRPr>
            </a:pPr>
            <a:r>
              <a:t>✔ TLS-PSK Local Wi-Fi Handshake</a:t>
            </a:r>
          </a:p>
          <a:p>
            <a:pPr>
              <a:defRPr sz="1050">
                <a:solidFill>
                  <a:srgbClr val="F8FAFC"/>
                </a:solidFill>
              </a:defRPr>
            </a:pPr>
            <a:r>
              <a:t>When mobile and desktop devices connect to the same local subnet, they establish a direct peer-to-peer authenticated tunnel using pre-shared keys.</a:t>
            </a:r>
          </a:p>
          <a:p>
            <a:pPr>
              <a:spcBef>
                <a:spcPts val="800"/>
              </a:spcBef>
              <a:defRPr b="1" sz="1200">
                <a:solidFill>
                  <a:srgbClr val="34D399"/>
                </a:solidFill>
              </a:defRPr>
            </a:pPr>
            <a:r>
              <a:t>✔ Differential SQLite &amp; Vector Sync</a:t>
            </a:r>
          </a:p>
          <a:p>
            <a:pPr>
              <a:defRPr sz="1050">
                <a:solidFill>
                  <a:srgbClr val="F8FAFC"/>
                </a:solidFill>
              </a:defRPr>
            </a:pPr>
            <a:r>
              <a:t>Synchronizes conversation histories, indexed document vector embeddings, and notes without transmitting a single byte to an external server.</a:t>
            </a:r>
          </a:p>
          <a:p>
            <a:pPr>
              <a:spcBef>
                <a:spcPts val="800"/>
              </a:spcBef>
              <a:defRPr b="1" sz="1200">
                <a:solidFill>
                  <a:srgbClr val="8B5CF6"/>
                </a:solidFill>
              </a:defRPr>
            </a:pPr>
            <a:r>
              <a:t>✔ Zero Cloud Intermediary</a:t>
            </a:r>
          </a:p>
          <a:p>
            <a:pPr>
              <a:defRPr sz="1050">
                <a:solidFill>
                  <a:srgbClr val="F8FAFC"/>
                </a:solidFill>
              </a:defRPr>
            </a:pPr>
            <a:r>
              <a:t>Eliminates AWS S3, Firebase, or external databases. If the internet goes down, synchronization proceeds unimpeded across local Wi-Fi.</a:t>
            </a:r>
          </a:p>
          <a:p>
            <a:pPr>
              <a:spcBef>
                <a:spcPts val="800"/>
              </a:spcBef>
              <a:defRPr b="1" sz="1200">
                <a:solidFill>
                  <a:srgbClr val="FB923C"/>
                </a:solidFill>
              </a:defRPr>
            </a:pPr>
            <a:r>
              <a:t>✔ Enterprise Boundary Compliance</a:t>
            </a:r>
          </a:p>
          <a:p>
            <a:pPr>
              <a:defRPr sz="1050">
                <a:solidFill>
                  <a:srgbClr val="F8FAFC"/>
                </a:solidFill>
              </a:defRPr>
            </a:pPr>
            <a:r>
              <a:t>Corporate data never traverses outside the enterprise physical facility or firewall perimeter.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none" lIns="0" tIns="0" rIns="0" bIns="0">
            <a:spAutoFit/>
          </a:bodyPr>
          <a:lstStyle/>
          <a:p>
            <a:pPr>
              <a:defRPr sz="1100" b="1">
                <a:solidFill>
                  <a:srgbClr val="00E5FF"/>
                </a:solidFill>
              </a:defRPr>
            </a:pPr>
            <a:r>
              <a:t>STRATEGIC MOATS &amp; INVESTMENT CONCLUSION</a:t>
            </a:r>
          </a:p>
        </p:txBody>
      </p:sp>
      <p:sp>
        <p:nvSpPr>
          <p:cNvPr id="4" name="TextBox 3"/>
          <p:cNvSpPr txBox="1"/>
          <p:nvPr/>
        </p:nvSpPr>
        <p:spPr>
          <a:xfrm>
            <a:off x="731520" y="658368"/>
            <a:ext cx="10698480" cy="594360"/>
          </a:xfrm>
          <a:prstGeom prst="rect">
            <a:avLst/>
          </a:prstGeom>
          <a:noFill/>
        </p:spPr>
        <p:txBody>
          <a:bodyPr wrap="none" lIns="0" tIns="0" rIns="0" bIns="0">
            <a:spAutoFit/>
          </a:bodyPr>
          <a:lstStyle/>
          <a:p>
            <a:pPr>
              <a:defRPr sz="2500" b="1">
                <a:solidFill>
                  <a:srgbClr val="F8FAFC"/>
                </a:solidFill>
              </a:defRPr>
            </a:pPr>
            <a:r>
              <a:t>The Sovereign AI Future: Why Orion Wins</a:t>
            </a:r>
          </a:p>
        </p:txBody>
      </p:sp>
      <p:sp>
        <p:nvSpPr>
          <p:cNvPr id="5" name="TextBox 4"/>
          <p:cNvSpPr txBox="1"/>
          <p:nvPr/>
        </p:nvSpPr>
        <p:spPr>
          <a:xfrm>
            <a:off x="731520" y="1280160"/>
            <a:ext cx="10698480" cy="365760"/>
          </a:xfrm>
          <a:prstGeom prst="rect">
            <a:avLst/>
          </a:prstGeom>
          <a:noFill/>
        </p:spPr>
        <p:txBody>
          <a:bodyPr wrap="none" lIns="0" tIns="0" rIns="0" bIns="0">
            <a:spAutoFit/>
          </a:bodyPr>
          <a:lstStyle/>
          <a:p>
            <a:pPr>
              <a:defRPr sz="1300">
                <a:solidFill>
                  <a:srgbClr val="A0AEC0"/>
                </a:solidFill>
              </a:defRPr>
            </a:pPr>
            <a:r>
              <a:t>A generational transformation from centralized surveillance AI to sovereign personal intelligence.</a:t>
            </a:r>
          </a:p>
        </p:txBody>
      </p:sp>
      <p:sp>
        <p:nvSpPr>
          <p:cNvPr id="6" name="Rounded Rectangle 5"/>
          <p:cNvSpPr/>
          <p:nvPr/>
        </p:nvSpPr>
        <p:spPr>
          <a:xfrm>
            <a:off x="731520" y="1737360"/>
            <a:ext cx="5120640" cy="411480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65960"/>
            <a:ext cx="4572000" cy="3657600"/>
          </a:xfrm>
          <a:prstGeom prst="rect">
            <a:avLst/>
          </a:prstGeom>
          <a:noFill/>
        </p:spPr>
        <p:txBody>
          <a:bodyPr wrap="square" lIns="0" tIns="0" rIns="0" bIns="0">
            <a:spAutoFit/>
          </a:bodyPr>
          <a:lstStyle/>
          <a:p>
            <a:pPr>
              <a:defRPr sz="1600" b="1">
                <a:solidFill>
                  <a:srgbClr val="F8FAFC"/>
                </a:solidFill>
              </a:defRPr>
            </a:pPr>
            <a:r>
              <a:t>The Orion Competitive Moat</a:t>
            </a:r>
          </a:p>
          <a:p>
            <a:pPr>
              <a:spcAft>
                <a:spcPts val="600"/>
              </a:spcAft>
              <a:defRPr sz="1000" b="1">
                <a:solidFill>
                  <a:srgbClr val="00E5FF"/>
                </a:solidFill>
              </a:defRPr>
            </a:pPr>
            <a:r>
              <a:t>STRATEGIC ADVANTAGES</a:t>
            </a:r>
          </a:p>
          <a:p>
            <a:pPr>
              <a:spcBef>
                <a:spcPts val="800"/>
              </a:spcBef>
              <a:defRPr b="1" sz="1200">
                <a:solidFill>
                  <a:srgbClr val="00E5FF"/>
                </a:solidFill>
              </a:defRPr>
            </a:pPr>
            <a:r>
              <a:t>• Proprietary Edge Architecture:</a:t>
            </a:r>
          </a:p>
          <a:p>
            <a:pPr>
              <a:defRPr sz="1050">
                <a:solidFill>
                  <a:srgbClr val="F8FAFC"/>
                </a:solidFill>
              </a:defRPr>
            </a:pPr>
            <a:r>
              <a:t>Sequential Dynamic Handoff solves the fundamental physics constraint of commodity hardware, unlocking 8 GB enterprise laptops without upgrades.</a:t>
            </a:r>
          </a:p>
          <a:p>
            <a:pPr>
              <a:spcBef>
                <a:spcPts val="800"/>
              </a:spcBef>
              <a:defRPr b="1" sz="1200">
                <a:solidFill>
                  <a:srgbClr val="34D399"/>
                </a:solidFill>
              </a:defRPr>
            </a:pPr>
            <a:r>
              <a:t>• Provable Enterprise Security:</a:t>
            </a:r>
          </a:p>
          <a:p>
            <a:pPr>
              <a:defRPr sz="1050">
                <a:solidFill>
                  <a:srgbClr val="F8FAFC"/>
                </a:solidFill>
              </a:defRPr>
            </a:pPr>
            <a:r>
              <a:t>Two-Domain Capability Broker provides mathematically provable isolation against prompt injection (100% containment on BIPIA), passing strict audits.</a:t>
            </a:r>
          </a:p>
          <a:p>
            <a:pPr>
              <a:spcBef>
                <a:spcPts val="800"/>
              </a:spcBef>
              <a:defRPr b="1" sz="1200">
                <a:solidFill>
                  <a:srgbClr val="8B5CF6"/>
                </a:solidFill>
              </a:defRPr>
            </a:pPr>
            <a:r>
              <a:t>• Fully Deployed Platform (M1–M10):</a:t>
            </a:r>
          </a:p>
          <a:p>
            <a:pPr>
              <a:defRPr sz="1050">
                <a:solidFill>
                  <a:srgbClr val="F8FAFC"/>
                </a:solidFill>
              </a:defRPr>
            </a:pPr>
            <a:r>
              <a:t>Not an idea: complete production stack with voice, RAG, email, browser, and OS UI control deployed and tested today.</a:t>
            </a:r>
          </a:p>
          <a:p>
            <a:pPr>
              <a:spcBef>
                <a:spcPts val="800"/>
              </a:spcBef>
              <a:defRPr b="1" sz="1200">
                <a:solidFill>
                  <a:srgbClr val="FB923C"/>
                </a:solidFill>
              </a:defRPr>
            </a:pPr>
            <a:r>
              <a:t>• Infinite Edge Unit Economics:</a:t>
            </a:r>
          </a:p>
          <a:p>
            <a:pPr>
              <a:defRPr sz="1050">
                <a:solidFill>
                  <a:srgbClr val="F8FAFC"/>
                </a:solidFill>
              </a:defRPr>
            </a:pPr>
            <a:r>
              <a:t>$0 incremental inference cost turns traditional SaaS gross margin decay into high-margin enterprise recurring software revenue.</a:t>
            </a:r>
          </a:p>
        </p:txBody>
      </p:sp>
      <p:sp>
        <p:nvSpPr>
          <p:cNvPr id="8" name="Rounded Rectangle 7"/>
          <p:cNvSpPr/>
          <p:nvPr/>
        </p:nvSpPr>
        <p:spPr>
          <a:xfrm>
            <a:off x="6126480" y="1737360"/>
            <a:ext cx="5303520" cy="4114800"/>
          </a:xfrm>
          <a:prstGeom prst="roundRect">
            <a:avLst/>
          </a:prstGeom>
          <a:solidFill>
            <a:srgbClr val="141A26"/>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754880" cy="3657600"/>
          </a:xfrm>
          <a:prstGeom prst="rect">
            <a:avLst/>
          </a:prstGeom>
          <a:noFill/>
        </p:spPr>
        <p:txBody>
          <a:bodyPr wrap="square" lIns="0" tIns="0" rIns="0" bIns="0">
            <a:spAutoFit/>
          </a:bodyPr>
          <a:lstStyle/>
          <a:p>
            <a:pPr>
              <a:defRPr sz="1600" b="1">
                <a:solidFill>
                  <a:srgbClr val="F8FAFC"/>
                </a:solidFill>
              </a:defRPr>
            </a:pPr>
            <a:r>
              <a:t>Commercial Horizon &amp; Live Demonstration</a:t>
            </a:r>
          </a:p>
          <a:p>
            <a:pPr>
              <a:spcAft>
                <a:spcPts val="600"/>
              </a:spcAft>
              <a:defRPr sz="1000" b="1">
                <a:solidFill>
                  <a:srgbClr val="00E5FF"/>
                </a:solidFill>
              </a:defRPr>
            </a:pPr>
            <a:r>
              <a:t>CALL TO ACTION</a:t>
            </a:r>
          </a:p>
          <a:p>
            <a:pPr>
              <a:spcBef>
                <a:spcPts val="800"/>
              </a:spcBef>
              <a:defRPr b="1" sz="1200">
                <a:solidFill>
                  <a:srgbClr val="00E5FF"/>
                </a:solidFill>
              </a:defRPr>
            </a:pPr>
            <a:r>
              <a:t>🚀 Enterprise Pilot Deployments:</a:t>
            </a:r>
          </a:p>
          <a:p>
            <a:pPr>
              <a:defRPr sz="1050">
                <a:solidFill>
                  <a:srgbClr val="F8FAFC"/>
                </a:solidFill>
              </a:defRPr>
            </a:pPr>
            <a:r>
              <a:t>Rollouts across regulated legal partnerships, clinical research clinics, and financial institutions requiring certified zero-egress compliance.</a:t>
            </a:r>
          </a:p>
          <a:p>
            <a:pPr>
              <a:spcBef>
                <a:spcPts val="800"/>
              </a:spcBef>
              <a:defRPr b="1" sz="1200">
                <a:solidFill>
                  <a:srgbClr val="34D399"/>
                </a:solidFill>
              </a:defRPr>
            </a:pPr>
            <a:r>
              <a:t>🚀 Cross-Platform Ecosystem:</a:t>
            </a:r>
          </a:p>
          <a:p>
            <a:pPr>
              <a:defRPr sz="1050">
                <a:solidFill>
                  <a:srgbClr val="F8FAFC"/>
                </a:solidFill>
              </a:defRPr>
            </a:pPr>
            <a:r>
              <a:t>Expanding from Windows 11 AppContainer to Linux and macOS enterprise fleets.</a:t>
            </a:r>
          </a:p>
          <a:p>
            <a:pPr>
              <a:spcBef>
                <a:spcPts val="800"/>
              </a:spcBef>
              <a:defRPr b="1" sz="1200">
                <a:solidFill>
                  <a:srgbClr val="8B5CF6"/>
                </a:solidFill>
              </a:defRPr>
            </a:pPr>
            <a:r>
              <a:t>🚀 Production Release Available:</a:t>
            </a:r>
          </a:p>
          <a:p>
            <a:pPr>
              <a:defRPr sz="1050">
                <a:solidFill>
                  <a:srgbClr val="F8FAFC"/>
                </a:solidFill>
              </a:defRPr>
            </a:pPr>
            <a:r>
              <a:t>Full open-source codebase, architectural documentation, and paper available at: github.com/kuldeepyadav001/Orion</a:t>
            </a:r>
          </a:p>
          <a:p>
            <a:pPr>
              <a:spcBef>
                <a:spcPts val="800"/>
              </a:spcBef>
              <a:defRPr b="1" sz="1200">
                <a:solidFill>
                  <a:srgbClr val="FB923C"/>
                </a:solidFill>
              </a:defRPr>
            </a:pPr>
            <a:r>
              <a:t>🚀 Live Demonstration &amp; Questions:</a:t>
            </a:r>
          </a:p>
          <a:p>
            <a:pPr>
              <a:defRPr sz="1050">
                <a:solidFill>
                  <a:srgbClr val="F8FAFC"/>
                </a:solidFill>
              </a:defRPr>
            </a:pPr>
            <a:r>
              <a:t>Ready for live demonstration: voice loop, sub-1.2s model handoff, and Capability Broker defense.</a:t>
            </a:r>
          </a:p>
        </p:txBody>
      </p:sp>
      <p:sp>
        <p:nvSpPr>
          <p:cNvPr id="10" name="TextBox 9"/>
          <p:cNvSpPr txBox="1"/>
          <p:nvPr/>
        </p:nvSpPr>
        <p:spPr>
          <a:xfrm>
            <a:off x="731520" y="6035040"/>
            <a:ext cx="10698480" cy="365760"/>
          </a:xfrm>
          <a:prstGeom prst="rect">
            <a:avLst/>
          </a:prstGeom>
          <a:noFill/>
        </p:spPr>
        <p:txBody>
          <a:bodyPr wrap="none">
            <a:spAutoFit/>
          </a:bodyPr>
          <a:lstStyle/>
          <a:p>
            <a:pPr>
              <a:defRPr sz="1200" b="1">
                <a:solidFill>
                  <a:srgbClr val="00E5FF"/>
                </a:solidFill>
              </a:defRPr>
            </a:pPr>
            <a:r>
              <a:t>ORION TECHNOLOGIES | The Sovereign AI Operating System | Founder &amp; Architect: Kuldeep Yadav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